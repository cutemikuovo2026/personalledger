
<file path=[Content_Types].xml><?xml version="1.0" encoding="utf-8"?>
<Types xmlns="http://schemas.openxmlformats.org/package/2006/content-types">
  <Default Extension="xml" ContentType="application/vnd.openxmlformats-package.core-properties+xml"/>
  <Default Extension="png" ContentType="image/png"/>
  <Default Extension="jpeg" ContentType="image/jpeg"/>
  <Default Extension="rels" ContentType="application/vnd.openxmlformats-package.relationships+xml"/>
  <Override PartName="/docProps/app.xml" ContentType="application/vnd.openxmlformats-officedocument.extended-properties+xml"/>
  <Override PartName="/ppt/presentation.xml" ContentType="application/vnd.openxmlformats-officedocument.presentationml.presentation.main+xml"/>
  <Override PartName="/ppt/slideMasters/slideMaster1.xml" ContentType="application/vnd.openxmlformats-officedocument.presentationml.slideMaster+xml"/>
  <Override PartName="/ppt/theme/theme1.xml" ContentType="application/vnd.openxmlformats-officedocument.theme+xml"/>
  <Override PartName="/ppt/notesMasters/notesMaster1.xml" ContentType="application/vnd.openxmlformats-officedocument.presentationml.notesMaster+xml"/>
  <Override PartName="/ppt/notesMasters/theme/theme2.xml" ContentType="application/vnd.openxmlformats-officedocument.theme+xml"/>
  <Override PartName="/ppt/presProps.xml" ContentType="application/vnd.openxmlformats-officedocument.presentationml.presProps+xml"/>
  <Override PartName="/ppt/viewProps.xml" ContentType="application/vnd.openxmlformats-officedocument.presentationml.viewProps+xml"/>
  <Override PartName="/ppt/tableStyles.xml" ContentType="application/vnd.openxmlformats-officedocument.presentationml.tableStyles+xml"/>
  <Override PartName="/ppt/slideLayouts/slideLayout2.xml" ContentType="application/vnd.openxmlformats-officedocument.presentationml.slideLayout+xml"/>
  <Override PartName="/ppt/slides/slide1.xml" ContentType="application/vnd.openxmlformats-officedocument.presentationml.slide+xml"/>
  <Override PartName="/ppt/notesSlides/notesSlide1.xml" ContentType="application/vnd.openxmlformats-officedocument.presentationml.notesSlide+xml"/>
  <Override PartName="/ppt/slides/slide2.xml" ContentType="application/vnd.openxmlformats-officedocument.presentationml.slide+xml"/>
  <Override PartName="/ppt/notesSlides/notesSlide2.xml" ContentType="application/vnd.openxmlformats-officedocument.presentationml.notesSlide+xml"/>
  <Override PartName="/ppt/slides/slide3.xml" ContentType="application/vnd.openxmlformats-officedocument.presentationml.slide+xml"/>
  <Override PartName="/ppt/notesSlides/notesSlide3.xml" ContentType="application/vnd.openxmlformats-officedocument.presentationml.notesSlide+xml"/>
  <Override PartName="/ppt/slides/slide4.xml" ContentType="application/vnd.openxmlformats-officedocument.presentationml.slide+xml"/>
  <Override PartName="/ppt/notesSlides/notesSlide4.xml" ContentType="application/vnd.openxmlformats-officedocument.presentationml.notesSlide+xml"/>
  <Override PartName="/ppt/slides/slide5.xml" ContentType="application/vnd.openxmlformats-officedocument.presentationml.slide+xml"/>
  <Override PartName="/ppt/notesSlides/notesSlide5.xml" ContentType="application/vnd.openxmlformats-officedocument.presentationml.notesSlide+xml"/>
  <Override PartName="/ppt/slides/slide6.xml" ContentType="application/vnd.openxmlformats-officedocument.presentationml.slide+xml"/>
  <Override PartName="/ppt/notesSlides/notesSlide6.xml" ContentType="application/vnd.openxmlformats-officedocument.presentationml.notesSlide+xml"/>
  <Override PartName="/ppt/slides/slide7.xml" ContentType="application/vnd.openxmlformats-officedocument.presentationml.slide+xml"/>
  <Override PartName="/ppt/notesSlides/notesSlide7.xml" ContentType="application/vnd.openxmlformats-officedocument.presentationml.notesSlide+xml"/>
  <Override PartName="/ppt/slides/slide8.xml" ContentType="application/vnd.openxmlformats-officedocument.presentationml.slide+xml"/>
  <Override PartName="/ppt/notesSlides/notesSlide8.xml" ContentType="application/vnd.openxmlformats-officedocument.presentationml.notesSlide+xml"/>
</Types>
</file>

<file path=_rels/.rels>&#65279;<?xml version="1.0" encoding="utf-8"?><Relationships xmlns="http://schemas.openxmlformats.org/package/2006/relationships"><Relationship Type="http://schemas.openxmlformats.org/package/2006/relationships/metadata/core-properties" Target="/docProps/core.xml" Id="R677100fec3d04e21" /><Relationship Type="http://schemas.openxmlformats.org/officeDocument/2006/relationships/extended-properties" Target="/docProps/app.xml" Id="Re6d0b44192974fd6" /><Relationship Type="http://schemas.openxmlformats.org/officeDocument/2006/relationships/officeDocument" Target="/ppt/presentation.xml" Id="R2bfe7968e7994b66" /></Relationships>
</file>

<file path=ppt/presentation.xml><?xml version="1.0" encoding="utf-8"?>
<p:presentation xmlns:p="http://schemas.openxmlformats.org/presentationml/2006/main">
  <p:sldMasterIdLst>
    <p:sldMasterId xmlns:r="http://schemas.openxmlformats.org/officeDocument/2006/relationships" id="2147483648" r:id="R339b82766ad74c79"/>
  </p:sldMasterIdLst>
  <p:notesMasterIdLst>
    <p:notesMasterId xmlns:r="http://schemas.openxmlformats.org/officeDocument/2006/relationships" r:id="R19b9752ebb3b4f3d"/>
  </p:notesMasterIdLst>
  <p:sldIdLst>
    <p:sldId xmlns:r="http://schemas.openxmlformats.org/officeDocument/2006/relationships" id="256" r:id="Re25a0b9d4508427b"/>
    <p:sldId xmlns:r="http://schemas.openxmlformats.org/officeDocument/2006/relationships" id="257" r:id="R8b23aa1b53694cb6"/>
    <p:sldId xmlns:r="http://schemas.openxmlformats.org/officeDocument/2006/relationships" id="258" r:id="Rc949701423964727"/>
    <p:sldId xmlns:r="http://schemas.openxmlformats.org/officeDocument/2006/relationships" id="259" r:id="R2108789a7cb84527"/>
    <p:sldId xmlns:r="http://schemas.openxmlformats.org/officeDocument/2006/relationships" id="260" r:id="Rfdb4f6024bed48f8"/>
    <p:sldId xmlns:r="http://schemas.openxmlformats.org/officeDocument/2006/relationships" id="261" r:id="Rbbeecdb6c05847b8"/>
    <p:sldId xmlns:r="http://schemas.openxmlformats.org/officeDocument/2006/relationships" id="262" r:id="R44910a9b8e724063"/>
    <p:sldId xmlns:r="http://schemas.openxmlformats.org/officeDocument/2006/relationships" id="263" r:id="R3472aeb2850645b2"/>
  </p:sldIdLst>
  <p:sldSz cx="18288000" cy="10287000"/>
  <p:notesSz cx="6858000" cy="9144000"/>
  <p:defaultTextStyle>
    <a:defPPr xmlns:a="http://schemas.openxmlformats.org/drawingml/2006/main">
      <a:defRPr lang="en-US"/>
    </a:defPPr>
    <a:lvl1pPr xmlns:a="http://schemas.openxmlformats.org/drawingml/2006/main" marL="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1pPr>
    <a:lvl2pPr xmlns:a="http://schemas.openxmlformats.org/drawingml/2006/main" marL="457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2pPr>
    <a:lvl3pPr xmlns:a="http://schemas.openxmlformats.org/drawingml/2006/main" marL="914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3pPr>
    <a:lvl4pPr xmlns:a="http://schemas.openxmlformats.org/drawingml/2006/main" marL="1371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4pPr>
    <a:lvl5pPr xmlns:a="http://schemas.openxmlformats.org/drawingml/2006/main" marL="18288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5pPr>
    <a:lvl6pPr xmlns:a="http://schemas.openxmlformats.org/drawingml/2006/main" marL="22860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6pPr>
    <a:lvl7pPr xmlns:a="http://schemas.openxmlformats.org/drawingml/2006/main" marL="27432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7pPr>
    <a:lvl8pPr xmlns:a="http://schemas.openxmlformats.org/drawingml/2006/main" marL="32004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8pPr>
    <a:lvl9pPr xmlns:a="http://schemas.openxmlformats.org/drawingml/2006/main" marL="3657600" indent="0" algn="l" defTabSz="914400">
      <a:defRPr sz="1800" kern="1200">
        <a:solidFill>
          <a:schemeClr val="tx1"/>
        </a:solidFill>
        <a:latin typeface="+mn-lt"/>
        <a:ea typeface="+mn-ea"/>
        <a:cs typeface="+mn-cs"/>
      </a:defRPr>
    </a:lvl9pPr>
  </p:defaultTextStyle>
</p:presentation>
</file>

<file path=ppt/presProps.xml><?xml version="1.0" encoding="utf-8"?>
<p:presentationPr xmlns:p="http://schemas.openxmlformats.org/presentationml/2006/main">
  <p:extLst>
    <p:ext xmlns:p14="http://schemas.microsoft.com/office/powerpoint/2010/main" uri="{E76CE94A-603C-4142-B9EB-6D1370010A27}">
      <p14:discardImageEditData val="0"/>
    </p:ext>
    <p:ext xmlns:p14="http://schemas.microsoft.com/office/powerpoint/2010/main" uri="{D31A062A-798A-4329-ABDD-BBA856620510}">
      <p14:defaultImageDpi val="32767"/>
    </p:ext>
    <p:ext xmlns:p15="http://schemas.microsoft.com/office/powerpoint/2012/main" uri="{FD5EFAAD-0ECE-453E-9831-46B23BE46B34}">
      <p15:chartTrackingRefBased val="1"/>
    </p:ext>
  </p:extLst>
</p:presentationPr>
</file>

<file path=ppt/tableStyles.xml><?xml version="1.0" encoding="utf-8"?>
<a:tblStyleLst xmlns:a="http://schemas.openxmlformats.org/drawingml/2006/main" def="{5C22544A-7EE6-4342-B048-85BDC9FD1C3A}"/>
</file>

<file path=ppt/viewProps.xml><?xml version="1.0" encoding="utf-8"?>
<p:viewPr xmlns:p="http://schemas.openxmlformats.org/presentationml/2006/main">
  <p:normalViewPr>
    <p:restoredLeft sz="15611"/>
    <p:restoredTop sz="94658"/>
  </p:normalViewPr>
  <p:slideViewPr>
    <p:cSldViewPr snapToGrid="0">
      <p:cViewPr varScale="1">
        <p:scale>
          <a:sx xmlns:a="http://schemas.openxmlformats.org/drawingml/2006/main" n="120" d="100"/>
          <a:sy xmlns:a="http://schemas.openxmlformats.org/drawingml/2006/main" n="120" d="100"/>
        </p:scale>
        <p:origin x="800" y="184"/>
      </p:cViewPr>
      <p:guideLst/>
    </p:cSldViewPr>
  </p:slideViewPr>
  <p:notesTextViewPr>
    <p:cViewPr>
      <p:scale>
        <a:sx xmlns:a="http://schemas.openxmlformats.org/drawingml/2006/main" n="1" d="1"/>
        <a:sy xmlns:a="http://schemas.openxmlformats.org/drawingml/2006/main" n="1" d="1"/>
      </p:scale>
      <p:origin x="0" y="0"/>
    </p:cViewPr>
  </p:notesTextViewPr>
  <p:gridSpacing cx="76200" cy="76200"/>
</p:viewPr>
</file>

<file path=ppt/_rels/presentation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339b82766ad74c79" /><Relationship Type="http://schemas.openxmlformats.org/officeDocument/2006/relationships/theme" Target="/ppt/theme/theme1.xml" Id="R4491621768924feb" /><Relationship Type="http://schemas.openxmlformats.org/officeDocument/2006/relationships/notesMaster" Target="/ppt/notesMasters/notesMaster1.xml" Id="R19b9752ebb3b4f3d" /><Relationship Type="http://schemas.openxmlformats.org/officeDocument/2006/relationships/presProps" Target="/ppt/presProps.xml" Id="R9c0363c58c2e4845" /><Relationship Type="http://schemas.openxmlformats.org/officeDocument/2006/relationships/viewProps" Target="/ppt/viewProps.xml" Id="R17c98ce901554212" /><Relationship Type="http://schemas.openxmlformats.org/officeDocument/2006/relationships/tableStyles" Target="/ppt/tableStyles.xml" Id="R6d8c963007f946b9" /><Relationship Type="http://schemas.openxmlformats.org/officeDocument/2006/relationships/slide" Target="/ppt/slides/slide1.xml" Id="Re25a0b9d4508427b" /><Relationship Type="http://schemas.openxmlformats.org/officeDocument/2006/relationships/slide" Target="/ppt/slides/slide2.xml" Id="R8b23aa1b53694cb6" /><Relationship Type="http://schemas.openxmlformats.org/officeDocument/2006/relationships/slide" Target="/ppt/slides/slide3.xml" Id="Rc949701423964727" /><Relationship Type="http://schemas.openxmlformats.org/officeDocument/2006/relationships/slide" Target="/ppt/slides/slide4.xml" Id="R2108789a7cb84527" /><Relationship Type="http://schemas.openxmlformats.org/officeDocument/2006/relationships/slide" Target="/ppt/slides/slide5.xml" Id="Rfdb4f6024bed48f8" /><Relationship Type="http://schemas.openxmlformats.org/officeDocument/2006/relationships/slide" Target="/ppt/slides/slide6.xml" Id="Rbbeecdb6c05847b8" /><Relationship Type="http://schemas.openxmlformats.org/officeDocument/2006/relationships/slide" Target="/ppt/slides/slide7.xml" Id="R44910a9b8e724063" /><Relationship Type="http://schemas.openxmlformats.org/officeDocument/2006/relationships/slide" Target="/ppt/slides/slide8.xml" Id="R3472aeb2850645b2" /></Relationships>
</file>

<file path=ppt/notesMasters/_rels/notesMaster1.xml.rels>&#65279;<?xml version="1.0" encoding="utf-8"?><Relationships xmlns="http://schemas.openxmlformats.org/package/2006/relationships"><Relationship Type="http://schemas.openxmlformats.org/officeDocument/2006/relationships/theme" Target="/ppt/notesMasters/theme/theme2.xml" Id="R23d3976f2fce41fa" /></Relationships>
</file>

<file path=ppt/notesMasters/notesMaster1.xml><?xml version="1.0" encoding="utf-8"?>
<p:notesMaster xmlns:p="http://schemas.openxmlformats.org/presentationml/2006/main">
  <p:cSld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Header Placeholder"/>
          <p:cNvSpPr/>
          <p:nvPr>
            <p:ph type="hdr" sz="quarter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3" name="Date Placeholder"/>
          <p:cNvSpPr/>
          <p:nvPr>
            <p:ph type="dt" sz="quarter" idx="1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Image Placeholder"/>
          <p:cNvSpPr/>
          <p:nvPr>
            <p:ph type="sldImg" idx="2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5" name="Notes Placeholder"/>
          <p:cNvSpPr/>
          <p:nvPr>
            <p:ph type="body" sz="quarter" idx="3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6" name="Footer Placeholder"/>
          <p:cNvSpPr/>
          <p:nvPr>
            <p:ph type="ftr" sz="quarter" idx="4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7" name="Slide Number Placeholder"/>
          <p:cNvSpPr/>
          <p:nvPr>
            <p:ph type="sldNum" sz="quarter" idx="5"/>
          </p:nvPr>
        </p:nvSpPr>
        <p:spPr>
          <a:prstGeom xmlns:a="http://schemas.openxmlformats.org/drawingml/2006/main" prst="rect">
            <a:avLst/>
          </a:prstGeom>
        </p:spPr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 bg1="lt1" tx1="dk1" bg2="lt2" tx2="dk2" accent1="accent1" accent2="accent2" accent3="accent3" accent4="accent4" accent5="accent5" accent6="accent6" hlink="hlink" folHlink="folHlink"/>
  <p:notesStyle>
    <a:lvl1pPr xmlns:a="http://schemas.openxmlformats.org/drawingml/2006/main" marL="0" algn="l" defTabSz="914400" rtl="0" eaLnBrk="1" latinLnBrk="0" hangingPunct="1">
      <a:defRPr sz="1200" kern="1200"/>
    </a:lvl1pPr>
  </p:notesStyle>
</p:notesMaster>
</file>

<file path=ppt/notesMasters/theme/theme2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ppt/notesSlides/_rels/notesSlide1.xml.rels>&#65279;<?xml version="1.0" encoding="utf-8"?><Relationships xmlns="http://schemas.openxmlformats.org/package/2006/relationships"><Relationship Type="http://schemas.openxmlformats.org/officeDocument/2006/relationships/slide" Target="/ppt/slides/slide1.xml" Id="Re25e4bed9ceb40d4" /><Relationship Type="http://schemas.openxmlformats.org/officeDocument/2006/relationships/notesMaster" Target="/ppt/notesMasters/notesMaster1.xml" Id="Ra407ef981a514095" /></Relationships>
</file>

<file path=ppt/notesSlides/_rels/notesSlide2.xml.rels>&#65279;<?xml version="1.0" encoding="utf-8"?><Relationships xmlns="http://schemas.openxmlformats.org/package/2006/relationships"><Relationship Type="http://schemas.openxmlformats.org/officeDocument/2006/relationships/slide" Target="/ppt/slides/slide2.xml" Id="R376a4b9d51764b60" /><Relationship Type="http://schemas.openxmlformats.org/officeDocument/2006/relationships/notesMaster" Target="/ppt/notesMasters/notesMaster1.xml" Id="R0f1e6d486f3645d2" /></Relationships>
</file>

<file path=ppt/notesSlides/_rels/notesSlide3.xml.rels>&#65279;<?xml version="1.0" encoding="utf-8"?><Relationships xmlns="http://schemas.openxmlformats.org/package/2006/relationships"><Relationship Type="http://schemas.openxmlformats.org/officeDocument/2006/relationships/slide" Target="/ppt/slides/slide3.xml" Id="R7eb1519959fe4985" /><Relationship Type="http://schemas.openxmlformats.org/officeDocument/2006/relationships/notesMaster" Target="/ppt/notesMasters/notesMaster1.xml" Id="R5b39adffdbf34b4a" /></Relationships>
</file>

<file path=ppt/notesSlides/_rels/notesSlide4.xml.rels>&#65279;<?xml version="1.0" encoding="utf-8"?><Relationships xmlns="http://schemas.openxmlformats.org/package/2006/relationships"><Relationship Type="http://schemas.openxmlformats.org/officeDocument/2006/relationships/slide" Target="/ppt/slides/slide4.xml" Id="Rc317d3bb9e294ca6" /><Relationship Type="http://schemas.openxmlformats.org/officeDocument/2006/relationships/notesMaster" Target="/ppt/notesMasters/notesMaster1.xml" Id="R02e0606bfd384306" /></Relationships>
</file>

<file path=ppt/notesSlides/_rels/notesSlide5.xml.rels>&#65279;<?xml version="1.0" encoding="utf-8"?><Relationships xmlns="http://schemas.openxmlformats.org/package/2006/relationships"><Relationship Type="http://schemas.openxmlformats.org/officeDocument/2006/relationships/slide" Target="/ppt/slides/slide5.xml" Id="R0646fbca4c2f420d" /><Relationship Type="http://schemas.openxmlformats.org/officeDocument/2006/relationships/notesMaster" Target="/ppt/notesMasters/notesMaster1.xml" Id="Rb57f1699365643cb" /></Relationships>
</file>

<file path=ppt/notesSlides/_rels/notesSlide6.xml.rels>&#65279;<?xml version="1.0" encoding="utf-8"?><Relationships xmlns="http://schemas.openxmlformats.org/package/2006/relationships"><Relationship Type="http://schemas.openxmlformats.org/officeDocument/2006/relationships/slide" Target="/ppt/slides/slide6.xml" Id="R4b5e29b00cbf40bc" /><Relationship Type="http://schemas.openxmlformats.org/officeDocument/2006/relationships/notesMaster" Target="/ppt/notesMasters/notesMaster1.xml" Id="Rbc5be56f1a3a4722" /></Relationships>
</file>

<file path=ppt/notesSlides/_rels/notesSlide7.xml.rels>&#65279;<?xml version="1.0" encoding="utf-8"?><Relationships xmlns="http://schemas.openxmlformats.org/package/2006/relationships"><Relationship Type="http://schemas.openxmlformats.org/officeDocument/2006/relationships/slide" Target="/ppt/slides/slide7.xml" Id="Rfc70705797aa4b12" /><Relationship Type="http://schemas.openxmlformats.org/officeDocument/2006/relationships/notesMaster" Target="/ppt/notesMasters/notesMaster1.xml" Id="Ra6ef454a767d4755" /></Relationships>
</file>

<file path=ppt/notesSlides/_rels/notesSlide8.xml.rels>&#65279;<?xml version="1.0" encoding="utf-8"?><Relationships xmlns="http://schemas.openxmlformats.org/package/2006/relationships"><Relationship Type="http://schemas.openxmlformats.org/officeDocument/2006/relationships/slide" Target="/ppt/slides/slide8.xml" Id="R47a0462a9e624463" /><Relationship Type="http://schemas.openxmlformats.org/officeDocument/2006/relationships/notesMaster" Target="/ppt/notesMasters/notesMaster1.xml" Id="R53ff8fa07a2d4637" /></Relationships>
</file>

<file path=ppt/notesSlides/notesSlide1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2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3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4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5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6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7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notesSlides/notesSlide8.xml><?xml version="1.0" encoding="utf-8"?>
<p:notes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2" name="Slide Image Placeholder 1"/>
          <p:cNvSpPr>
            <a:spLocks xmlns:a="http://schemas.openxmlformats.org/drawingml/2006/main" noGrp="1"/>
          </p:cNvSpPr>
          <p:nvPr>
            <p:ph type="sldImg" idx="0"/>
          </p:nvPr>
        </p:nvSpPr>
        <p:spPr/>
      </p:sp>
      <p:sp>
        <p:nvSpPr>
          <p:cNvPr id="3" name="Notes Placeholder 2"/>
          <p:cNvSpPr>
            <a:spLocks xmlns:a="http://schemas.openxmlformats.org/drawingml/2006/main" noGrp="1"/>
          </p:cNvSpPr>
          <p:nvPr>
            <p:ph type="body" idx="1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  <p:sp>
        <p:nvSpPr>
          <p:cNvPr id="4" name="Slide Number Placeholder 3"/>
          <p:cNvSpPr>
            <a:spLocks xmlns:a="http://schemas.openxmlformats.org/drawingml/2006/main" noGrp="1"/>
          </p:cNvSpPr>
          <p:nvPr>
            <p:ph type="sldNum" idx="5"/>
          </p:nvPr>
        </p:nvSpPr>
        <p:spPr/>
        <p:txBody>
          <a:bodyPr xmlns:a="http://schemas.openxmlformats.org/drawingml/2006/main"/>
          <a:lstStyle xmlns:a="http://schemas.openxmlformats.org/drawingml/2006/main"/>
          <a:p xmlns:a="http://schemas.openxmlformats.org/drawingml/2006/main"/>
        </p:txBody>
      </p:sp>
    </p:spTree>
  </p:cSld>
  <p:clrMapOvr>
    <a:masterClrMapping xmlns:a="http://schemas.openxmlformats.org/drawingml/2006/main"/>
  </p:clrMapOvr>
</p:notes>
</file>

<file path=ppt/slideLayouts/_rels/slideLayout2.xml.rels>&#65279;<?xml version="1.0" encoding="utf-8"?><Relationships xmlns="http://schemas.openxmlformats.org/package/2006/relationships"><Relationship Type="http://schemas.openxmlformats.org/officeDocument/2006/relationships/slideMaster" Target="/ppt/slideMasters/slideMaster1.xml" Id="R5fcf4fddc34a4f1c" /></Relationships>
</file>

<file path=ppt/slideLayouts/slideLayout2.xml><?xml version="1.0" encoding="utf-8"?>
<p:sldLayout xmlns:p="http://schemas.openxmlformats.org/presentationml/2006/main" type="title">
  <p:cSld name="Title Slide"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</p:sldLayout>
</file>

<file path=ppt/slideMasters/_rels/slideMaster1.xml.rels>&#65279;<?xml version="1.0" encoding="utf-8"?><Relationships xmlns="http://schemas.openxmlformats.org/package/2006/relationships"><Relationship Type="http://schemas.openxmlformats.org/officeDocument/2006/relationships/theme" Target="/ppt/theme/theme1.xml" Id="R4092ad4e40f64ff1" /><Relationship Type="http://schemas.openxmlformats.org/officeDocument/2006/relationships/slideLayout" Target="/ppt/slideLayouts/slideLayout2.xml" Id="Raedeed34f27844f3" /></Relationships>
</file>

<file path=ppt/slideMasters/slideMaster1.xml><?xml version="1.0" encoding="utf-8"?>
<p:sldMaster xmlns:p="http://schemas.openxmlformats.org/presentationml/2006/main">
  <p:cSld name="Master">
    <p:bg>
      <p:bgRef idx="1001">
        <a:schemeClr xmlns:a="http://schemas.openxmlformats.org/drawingml/2006/main" val="bg1"/>
      </p:bgRef>
    </p:bg>
    <p:spTree>
      <p:nvGrpSpPr>
        <p:cNvPr id="1" name=""/>
        <p:cNvGrpSpPr/>
        <p:nvPr/>
      </p:nvGrpSpPr>
      <p:grpSpPr>
        <a:xfrm xmlns:a="http://schemas.openxmlformats.org/drawingml/2006/main"/>
      </p:grpSpPr>
    </p:spTree>
  </p:cSld>
  <p:clrMap bg1="lt1" tx1="dk1" bg2="lt2" tx2="dk2" accent1="accent1" accent2="accent2" accent3="accent3" accent4="accent4" accent5="accent5" accent6="accent6" hlink="hlink" folHlink="folHlink"/>
  <p:sldLayoutIdLst>
    <p:sldLayoutId xmlns:r="http://schemas.openxmlformats.org/officeDocument/2006/relationships" id="2147483649" r:id="Raedeed34f27844f3"/>
  </p:sldLayoutIdLst>
  <p:txStyles>
    <p:titleStyle>
      <a:lvl1pPr xmlns:a="http://schemas.openxmlformats.org/drawingml/2006/main" algn="l">
        <a:lnSpc>
          <a:spcPct val="90000"/>
        </a:lnSpc>
        <a:spcBef>
          <a:spcPts val="0"/>
        </a:spcBef>
        <a:buNone/>
        <a:defRPr sz="4400">
          <a:solidFill>
            <a:schemeClr val="tx1"/>
          </a:solidFill>
          <a:latin typeface="+mj-lt"/>
          <a:ea typeface="+mj-lt"/>
          <a:cs typeface="+mj-lt"/>
        </a:defRPr>
      </a:lvl1pPr>
    </p:titleStyle>
    <p:bodyStyle>
      <a:lvl1pPr xmlns:a="http://schemas.openxmlformats.org/drawingml/2006/main" marL="228600" indent="-228600" algn="l">
        <a:lnSpc>
          <a:spcPct val="90000"/>
        </a:lnSpc>
        <a:spcBef>
          <a:spcPts val="1000"/>
        </a:spcBef>
        <a:buChar char="•"/>
        <a:defRPr sz="2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685800" indent="-228600" algn="l">
        <a:lnSpc>
          <a:spcPct val="90000"/>
        </a:lnSpc>
        <a:spcBef>
          <a:spcPts val="500"/>
        </a:spcBef>
        <a:buChar char="•"/>
        <a:defRPr sz="24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1143000" indent="-228600" algn="l">
        <a:lnSpc>
          <a:spcPct val="90000"/>
        </a:lnSpc>
        <a:spcBef>
          <a:spcPts val="500"/>
        </a:spcBef>
        <a:buChar char="•"/>
        <a:defRPr sz="20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600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20574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5146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9718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4290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886200" indent="-228600" algn="l">
        <a:lnSpc>
          <a:spcPct val="90000"/>
        </a:lnSpc>
        <a:spcBef>
          <a:spcPts val="500"/>
        </a:spcBef>
        <a:buChar char="•"/>
        <a:defRPr sz="1800">
          <a:solidFill>
            <a:schemeClr val="tx1"/>
          </a:solidFill>
          <a:latin typeface="+mn-lt"/>
          <a:ea typeface="+mn-lt"/>
          <a:cs typeface="+mn-lt"/>
        </a:defRPr>
      </a:lvl9pPr>
    </p:bodyStyle>
    <p:otherStyle>
      <a:lvl1pPr xmlns:a="http://schemas.openxmlformats.org/drawingml/2006/main" marL="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1pPr>
      <a:lvl2pPr xmlns:a="http://schemas.openxmlformats.org/drawingml/2006/main" marL="457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2pPr>
      <a:lvl3pPr xmlns:a="http://schemas.openxmlformats.org/drawingml/2006/main" marL="914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3pPr>
      <a:lvl4pPr xmlns:a="http://schemas.openxmlformats.org/drawingml/2006/main" marL="1371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4pPr>
      <a:lvl5pPr xmlns:a="http://schemas.openxmlformats.org/drawingml/2006/main" marL="18288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5pPr>
      <a:lvl6pPr xmlns:a="http://schemas.openxmlformats.org/drawingml/2006/main" marL="22860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6pPr>
      <a:lvl7pPr xmlns:a="http://schemas.openxmlformats.org/drawingml/2006/main" marL="27432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7pPr>
      <a:lvl8pPr xmlns:a="http://schemas.openxmlformats.org/drawingml/2006/main" marL="32004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8pPr>
      <a:lvl9pPr xmlns:a="http://schemas.openxmlformats.org/drawingml/2006/main" marL="3657600" algn="l">
        <a:buNone/>
        <a:defRPr sz="1800">
          <a:solidFill>
            <a:schemeClr val="tx1"/>
          </a:solidFill>
          <a:latin typeface="+mn-lt"/>
          <a:ea typeface="+mn-lt"/>
          <a:cs typeface="+mn-lt"/>
        </a:defRPr>
      </a:lvl9pPr>
    </p:otherStyle>
  </p:txStyles>
</p:sldMaster>
</file>

<file path=ppt/slides/_rels/slide1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3f00b23cc36649df" /><Relationship Type="http://schemas.openxmlformats.org/officeDocument/2006/relationships/image" Target="/ppt/media/image.png" Id="Rdaff143b726d451e" /><Relationship Type="http://schemas.openxmlformats.org/officeDocument/2006/relationships/image" Target="/ppt/media/image2.png" Id="R2fcfdbd9b2bf477c" /><Relationship Type="http://schemas.openxmlformats.org/officeDocument/2006/relationships/image" Target="/ppt/media/image.jpeg" Id="R212d8dfe4bd342ca" /><Relationship Type="http://schemas.openxmlformats.org/officeDocument/2006/relationships/image" Target="/ppt/media/image2.jpeg" Id="R5201358fd92845d4" /><Relationship Type="http://schemas.openxmlformats.org/officeDocument/2006/relationships/notesSlide" Target="/ppt/notesSlides/notesSlide1.xml" Id="R44edb43aaa0342bb" /></Relationships>
</file>

<file path=ppt/slides/_rels/slide2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23e08b901bd4dca" /><Relationship Type="http://schemas.openxmlformats.org/officeDocument/2006/relationships/notesSlide" Target="/ppt/notesSlides/notesSlide2.xml" Id="R1218f17c4df1493a" /></Relationships>
</file>

<file path=ppt/slides/_rels/slide3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51f2bd668a4a4a4c" /><Relationship Type="http://schemas.openxmlformats.org/officeDocument/2006/relationships/notesSlide" Target="/ppt/notesSlides/notesSlide3.xml" Id="R431e308076924046" /></Relationships>
</file>

<file path=ppt/slides/_rels/slide4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7d32440f023d4d90" /><Relationship Type="http://schemas.openxmlformats.org/officeDocument/2006/relationships/image" Target="/ppt/media/image3.jpeg" Id="R4fe594dc61d443de" /><Relationship Type="http://schemas.openxmlformats.org/officeDocument/2006/relationships/image" Target="/ppt/media/image3.png" Id="R1efbcc80c4e94807" /><Relationship Type="http://schemas.openxmlformats.org/officeDocument/2006/relationships/image" Target="/ppt/media/image4.jpeg" Id="Rbd2de991abe842bd" /><Relationship Type="http://schemas.openxmlformats.org/officeDocument/2006/relationships/image" Target="/ppt/media/image5.jpeg" Id="R24841ef37e4d4f4c" /><Relationship Type="http://schemas.openxmlformats.org/officeDocument/2006/relationships/image" Target="/ppt/media/image6.jpeg" Id="R3cd2d804ac7d48b8" /><Relationship Type="http://schemas.openxmlformats.org/officeDocument/2006/relationships/notesSlide" Target="/ppt/notesSlides/notesSlide4.xml" Id="Radf699ca9bd44095" /></Relationships>
</file>

<file path=ppt/slides/_rels/slide5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dfdda9f49e6c4c54" /><Relationship Type="http://schemas.openxmlformats.org/officeDocument/2006/relationships/image" Target="/ppt/media/image7.jpeg" Id="Ref782d3aa81a410e" /><Relationship Type="http://schemas.openxmlformats.org/officeDocument/2006/relationships/image" Target="/ppt/media/image8.jpeg" Id="Rdc11784bf0ab4964" /><Relationship Type="http://schemas.openxmlformats.org/officeDocument/2006/relationships/notesSlide" Target="/ppt/notesSlides/notesSlide5.xml" Id="R909872a131ca4194" /></Relationships>
</file>

<file path=ppt/slides/_rels/slide6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0fadf31b7b5414c" /><Relationship Type="http://schemas.openxmlformats.org/officeDocument/2006/relationships/image" Target="/ppt/media/image4.png" Id="R4624a47c026e4f8f" /><Relationship Type="http://schemas.openxmlformats.org/officeDocument/2006/relationships/notesSlide" Target="/ppt/notesSlides/notesSlide6.xml" Id="R62aa032090d14134" /></Relationships>
</file>

<file path=ppt/slides/_rels/slide7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93df7aa0c3c04f2f" /><Relationship Type="http://schemas.openxmlformats.org/officeDocument/2006/relationships/notesSlide" Target="/ppt/notesSlides/notesSlide7.xml" Id="R9a6a7cc38f034069" /></Relationships>
</file>

<file path=ppt/slides/_rels/slide8.xml.rels>&#65279;<?xml version="1.0" encoding="utf-8"?><Relationships xmlns="http://schemas.openxmlformats.org/package/2006/relationships"><Relationship Type="http://schemas.openxmlformats.org/officeDocument/2006/relationships/slideLayout" Target="/ppt/slideLayouts/slideLayout2.xml" Id="R12d629d90acd42df" /><Relationship Type="http://schemas.openxmlformats.org/officeDocument/2006/relationships/notesSlide" Target="/ppt/notesSlides/notesSlide8.xml" Id="Ra07dd10676a64fec" /></Relationships>
</file>

<file path=ppt/slides/slide1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A1491208-F21C-482B-8B2F-E45A8DCEDE1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376A192-7718-42A5-B5F1-09C06B603B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685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C"/>
          </a:solidFill>
        </p:spPr>
      </p:sp>
      <p:pic>
        <p:nvPicPr>
          <p:cNvPr id="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aff143b726d451e"/>
          <a:stretch xmlns:a="http://schemas.openxmlformats.org/drawingml/2006/main"/>
        </p:blipFill>
        <p:spPr>
          <a:xfrm xmlns:a="http://schemas.openxmlformats.org/drawingml/2006/main">
            <a:off x="800100" y="609600"/>
            <a:ext cx="1181100" cy="419100"/>
          </a:xfrm>
          <a:prstGeom xmlns:a="http://schemas.openxmlformats.org/drawingml/2006/main" prst="rect">
            <a:avLst/>
          </a:prstGeom>
        </p:spPr>
      </p:pic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7E45F8B-0810-4FE4-935B-D887D355BC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52650" y="647700"/>
            <a:ext cx="2326386" cy="34290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0CCBB08-C297-44B8-8746-E3EC803FD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24100" y="723900"/>
            <a:ext cx="19812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Android 原生毕业设计项目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E0BEA7B-6FB9-4236-8477-B8F6218A4F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2419350"/>
            <a:ext cx="5086350" cy="2667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4350" b="1">
                <a:solidFill>
                  <a:srgbClr val="F4F7FB"/>
                </a:solidFill>
              </a:defRPr>
            </a:pPr>
            <a:r>
              <a:rPr sz="4350" b="1">
                <a:solidFill>
                  <a:srgbClr val="F4F7FB"/>
                </a:solidFill>
              </a:rPr>
              <a:t>基于 Kotlin 与 Jetpack 架构的个人账本 App 的设计与实现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6956D161-E784-4765-AB12-415DC7751F4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276850"/>
            <a:ext cx="74866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>
                <a:solidFill>
                  <a:srgbClr val="8EA3D6"/>
                </a:solidFill>
              </a:defRPr>
            </a:pPr>
            <a:r>
              <a:rPr sz="2100">
                <a:solidFill>
                  <a:srgbClr val="8EA3D6"/>
                </a:solidFill>
              </a:rPr>
              <a:t>PersonalLedger 项目汇报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176AADB7-2973-47ED-A39E-C5B5E60CEE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5810250"/>
            <a:ext cx="2095500" cy="47625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7AC7B6"/>
          </a:solidFill>
          <a:ln xmlns:a="http://schemas.openxmlformats.org/drawingml/2006/main" w="0">
            <a:solidFill>
              <a:srgbClr val="7AC7B6"/>
            </a:solidFill>
            <a:prstDash val="solid"/>
          </a:ln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0F74061F-00E7-452C-9220-7288C8A4B3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1250" y="6076950"/>
            <a:ext cx="80010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7A4BA"/>
                </a:solidFill>
              </a:defRPr>
            </a:pPr>
            <a:r>
              <a:rPr sz="1800">
                <a:solidFill>
                  <a:srgbClr val="97A4BA"/>
                </a:solidFill>
              </a:rPr>
              <a:t>围绕轻量化、本地化、数据可视化三个目标，完成登录认证、账单录入、预算管理、报表统计与 CSV 导出的一体化闭环。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5E26F87D-87C9-4AF3-9A84-38F551758C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04298" y="6828473"/>
            <a:ext cx="13716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B46122CE-EF74-469C-AA31-0C176880DD9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172700" y="689610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作者：王禹鑫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64F09E1A-13A0-4F1C-A918-417753D845E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547348" y="6828473"/>
            <a:ext cx="1639824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2CDDAC2-63F7-45B4-A8C4-A117C4E70B8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715750" y="6896100"/>
            <a:ext cx="1295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学号：202251280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E592A44B-8FAE-4098-AEC8-3BCA183595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358622" y="6828473"/>
            <a:ext cx="154305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21644B5-BD98-46E5-97B5-77CF5B2841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525500" y="68961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专业：软件工程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BAE224FF-9550-4041-9B29-75B5F5D503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478280"/>
            <a:ext cx="8785098" cy="217170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1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fcfdbd9b2bf477c"/>
          <a:stretch xmlns:a="http://schemas.openxmlformats.org/drawingml/2006/main"/>
        </p:blipFill>
        <p:spPr>
          <a:xfrm xmlns:a="http://schemas.openxmlformats.org/drawingml/2006/main">
            <a:off x="971550" y="1649730"/>
            <a:ext cx="8442198" cy="1828800"/>
          </a:xfrm>
          <a:prstGeom xmlns:a="http://schemas.openxmlformats.org/drawingml/2006/main" prst="roundRect">
            <a:avLst>
              <a:gd name="adj" fmla="val 10417"/>
            </a:avLst>
          </a:prstGeom>
        </p:spPr>
      </p:pic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1DDE3227-81EC-42BE-B978-268F89AD7B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79095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主页总览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136AC2E-2A39-4316-8167-2AB8004BA18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83380"/>
            <a:ext cx="8785098" cy="2171700"/>
          </a:xfrm>
          <a:prstGeom xmlns:a="http://schemas.openxmlformats.org/drawingml/2006/main" prst="roundRect">
            <a:avLst>
              <a:gd name="adj" fmla="val 12281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20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12d8dfe4bd342ca"/>
          <a:stretch xmlns:a="http://schemas.openxmlformats.org/drawingml/2006/main"/>
        </p:blipFill>
        <p:spPr>
          <a:xfrm xmlns:a="http://schemas.openxmlformats.org/drawingml/2006/main">
            <a:off x="971550" y="4354830"/>
            <a:ext cx="8442198" cy="1828800"/>
          </a:xfrm>
          <a:prstGeom xmlns:a="http://schemas.openxmlformats.org/drawingml/2006/main" prst="roundRect">
            <a:avLst>
              <a:gd name="adj" fmla="val 10417"/>
            </a:avLst>
          </a:prstGeom>
        </p:spPr>
      </p:pic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A2D34F22-1223-4B3C-9905-87643EBDA4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9605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报表统计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70DFE27E-85BA-4DE7-929C-D630686C4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88480"/>
            <a:ext cx="8785098" cy="1771650"/>
          </a:xfrm>
          <a:prstGeom xmlns:a="http://schemas.openxmlformats.org/drawingml/2006/main" prst="roundRect">
            <a:avLst>
              <a:gd name="adj" fmla="val 1505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5201358fd92845d4"/>
          <a:stretch xmlns:a="http://schemas.openxmlformats.org/drawingml/2006/main"/>
        </p:blipFill>
        <p:spPr>
          <a:xfrm xmlns:a="http://schemas.openxmlformats.org/drawingml/2006/main">
            <a:off x="971550" y="7059930"/>
            <a:ext cx="8442198" cy="1428750"/>
          </a:xfrm>
          <a:prstGeom xmlns:a="http://schemas.openxmlformats.org/drawingml/2006/main" prst="roundRect">
            <a:avLst>
              <a:gd name="adj" fmla="val 13333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F7E1DD1C-3B98-4426-AF7C-139D2B4EC1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8801100"/>
            <a:ext cx="87820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记一笔弹窗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4ECD6E3-A5F1-4F99-BF00-884FDA26469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869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778A"/>
                </a:solidFill>
              </a:defRPr>
            </a:pPr>
            <a:r>
              <a:rPr sz="1350">
                <a:solidFill>
                  <a:srgbClr val="6D778A"/>
                </a:solidFill>
              </a:rPr>
              <a:t>Kotlin / Jetpack / MVVM / DataStore / MPAndroidChart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D2587E72-3692-4E48-8A16-7440B325069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486900"/>
            <a:ext cx="8343900" cy="190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6D778A"/>
                </a:solidFill>
              </a:defRPr>
            </a:pPr>
            <a:r>
              <a:rPr sz="1350">
                <a:solidFill>
                  <a:srgbClr val="6D778A"/>
                </a:solidFill>
              </a:rPr>
              <a:t>PersonalLedger</a:t>
            </a:r>
          </a:p>
        </p:txBody>
      </p:sp>
    </p:spTree>
    <p:extLst>
      <p:ext uri="{BB962C8B-B14F-4D97-AF65-F5344CB8AC3E}">
        <p14:creationId xmlns:p14="http://schemas.microsoft.com/office/powerpoint/2010/main" val="1240217714"/>
      </p:ext>
    </p:extLst>
  </p:cSld>
</p:sld>
</file>

<file path=ppt/slides/slide2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FE3A6426-34BF-47F1-8D15-A8E5923CF4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21508C75-D2BE-43BE-A386-57F3AC0028F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68580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7246BC1-7EB5-4917-8E8B-682C09FCCA5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7620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项目定位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622730C8-03CD-48CD-8D82-AEBFD726A8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1181100"/>
            <a:ext cx="7277100" cy="1104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为什么要做一款本地个人账本 App？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234A092-7E44-4066-91AA-73EA3EF8698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2552700"/>
            <a:ext cx="7677150" cy="3048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 b="1">
                <a:solidFill>
                  <a:srgbClr val="F4F7FB"/>
                </a:solidFill>
              </a:defRPr>
            </a:pPr>
            <a:r>
              <a:rPr sz="1950" b="1">
                <a:solidFill>
                  <a:srgbClr val="F4F7FB"/>
                </a:solidFill>
              </a:rPr>
              <a:t>问题背景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2A4CC82-8A63-4DB6-9635-CDD03CED477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3067050"/>
            <a:ext cx="7143750" cy="8572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75">
                <a:solidFill>
                  <a:srgbClr val="97A4BA"/>
                </a:solidFill>
              </a:defRPr>
            </a:pPr>
            <a:r>
              <a:rPr sz="1875">
                <a:solidFill>
                  <a:srgbClr val="97A4BA"/>
                </a:solidFill>
              </a:rPr>
              <a:t>论文与项目总结共同指出，市面记账产品普遍存在功能冗余、广告干扰和隐私顾虑，而个人日常财务记录更需要一款轻量、离线、上手快的工具。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ED943EF-846A-42C9-9143-579F8ABB7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133850"/>
            <a:ext cx="120015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D6B5">
              <a:alpha val="12549"/>
            </a:srgbClr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6088B048-FB93-4927-83F4-6FC53CE3EF8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09650" y="42100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1D6B5"/>
                </a:solidFill>
              </a:defRPr>
            </a:pPr>
            <a:r>
              <a:rPr sz="1350" b="1">
                <a:solidFill>
                  <a:srgbClr val="71D6B5"/>
                </a:solidFill>
              </a:rPr>
              <a:t>纯本地运行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8E337EC-1BA3-4A13-B9FC-A7C439DA918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90750" y="4133850"/>
            <a:ext cx="120015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BB02C33D-4B2B-4E6D-9851-691E1045CE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62200" y="421005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无网络依赖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226B7585-71EA-4EA5-B72F-EB546A7645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43300" y="4133850"/>
            <a:ext cx="13716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83077A53-5C06-4B09-92D5-6CDC4517A70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14750" y="4210050"/>
            <a:ext cx="10287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面向日常记账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BACE7902-AE94-4A25-ADFF-F9F6491901A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4701540"/>
            <a:ext cx="7673340" cy="1173480"/>
          </a:xfrm>
          <a:prstGeom xmlns:a="http://schemas.openxmlformats.org/drawingml/2006/main" prst="roundRect">
            <a:avLst>
              <a:gd name="adj" fmla="val 21104"/>
            </a:avLst>
          </a:prstGeom>
          <a:solidFill xmlns:a="http://schemas.openxmlformats.org/drawingml/2006/main">
            <a:srgbClr val="192334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A515909-D421-4E58-90E3-289340DBDCF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04900" y="4972050"/>
            <a:ext cx="71437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核心目标：把“记账、看预算、做复盘”压缩在一个清晰的操作路径里，而不是做成一个复杂金融平台。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18E73E8-0FAF-414D-B920-295931B335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2560320"/>
            <a:ext cx="8481060" cy="2087880"/>
          </a:xfrm>
          <a:prstGeom xmlns:a="http://schemas.openxmlformats.org/drawingml/2006/main" prst="roundRect">
            <a:avLst>
              <a:gd name="adj" fmla="val 11861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671E5EF-6C28-4FF1-9137-F10A3DA566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28194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5C68B5B-F51A-438C-B664-2EAFDD5F133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00990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轻量化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9BEEC894-C750-4395-83D6-0DB3A7E8C4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486150"/>
            <a:ext cx="794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单模块结构，依赖可控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1B90AF7-41A4-4323-8D45-B471C1E308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3867150"/>
            <a:ext cx="794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不引入云服务和复杂后端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5195DA1-F450-4706-9DD6-044D28C002C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4819650"/>
            <a:ext cx="8481060" cy="2087880"/>
          </a:xfrm>
          <a:prstGeom xmlns:a="http://schemas.openxmlformats.org/drawingml/2006/main" prst="roundRect">
            <a:avLst>
              <a:gd name="adj" fmla="val 11861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D10974DF-A312-4BCC-A71C-13EDE7EEB8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51054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1D2EFF6-F260-4501-9027-D4229FD8CC1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27685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本地化与隐私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85A3178-3813-4535-A9FB-55825ECF04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5753100"/>
            <a:ext cx="794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数据保存在设备端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8919A91-2836-497B-9B99-31823A4B2C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6134100"/>
            <a:ext cx="794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避免上传账单与账户信息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33D213E9-5719-40AF-AB15-86203975E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68740" y="7078980"/>
            <a:ext cx="8481060" cy="2087880"/>
          </a:xfrm>
          <a:prstGeom xmlns:a="http://schemas.openxmlformats.org/drawingml/2006/main" prst="roundRect">
            <a:avLst>
              <a:gd name="adj" fmla="val 11861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FBFC452C-BA1B-44CA-91D2-01C5B50A904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20200" y="73533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75489737-DED3-4532-9C27-3CE3FA5C06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7543800"/>
            <a:ext cx="79438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可视化与反馈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42F1730F-FD9E-49EA-9D4A-B11E2AA5EEC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020050"/>
            <a:ext cx="794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预算进度即时更新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7F9AA4-30CF-450D-B076-B2C1AC13471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239250" y="8382000"/>
            <a:ext cx="79438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图表帮助用户复盘消费结构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C14E5E63-334D-4D38-BB6E-BDE10DE94AD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38200" y="9448800"/>
            <a:ext cx="76771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</p:spTree>
    <p:extLst>
      <p:ext uri="{BB962C8B-B14F-4D97-AF65-F5344CB8AC3E}">
        <p14:creationId xmlns:p14="http://schemas.microsoft.com/office/powerpoint/2010/main" val="690937422"/>
      </p:ext>
    </p:extLst>
  </p:cSld>
</p:sld>
</file>

<file path=ppt/slides/slide3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5EF5730E-63E2-47B5-BD34-E94938D0637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89DBBE24-E533-4767-9491-0B1B4ABFD26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66675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6238DA1D-3596-4F5E-8B70-64D15C32DB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742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技术架构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0B262A45-964E-4810-810A-A26AA82B80F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143000"/>
            <a:ext cx="50292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从界面到存储的实现链路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EFD21CBB-A2E0-4631-AA54-DE1EA108F0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1809750"/>
            <a:ext cx="167640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项目采用 Kotlin + Jetpack + MVVM 组合，以共享 ViewModel 驱动首页与报表页同步。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50A37C7E-9ECC-44AB-AE2F-E3871870BA5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2503170"/>
            <a:ext cx="1723168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CC90228C-3276-4FBC-801E-6CBAB3D3C7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3450" y="257175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Activity + Fragment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A9848E9A-1865-4DF5-85CE-CEC3354BF5F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752850" y="24955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D778A"/>
                </a:solidFill>
              </a:defRPr>
            </a:pPr>
            <a:r>
              <a:rPr sz="3000" b="1">
                <a:solidFill>
                  <a:srgbClr val="6D778A"/>
                </a:solidFill>
              </a:rPr>
              <a:t>→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D2B0F276-DAF9-480C-A22E-8B072640F0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363528" y="2503170"/>
            <a:ext cx="1530667" cy="56388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4F4D505-F85A-4773-8E3C-B96E643DA4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543550" y="2571750"/>
            <a:ext cx="11811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MainViewModel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DC5B213A-3E39-4334-8A10-8522D9A21C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153400" y="24955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D778A"/>
                </a:solidFill>
              </a:defRPr>
            </a:pPr>
            <a:r>
              <a:rPr sz="3000" b="1">
                <a:solidFill>
                  <a:srgbClr val="6D778A"/>
                </a:solidFill>
              </a:rPr>
              <a:t>→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97F4B08-1B07-47AD-BF8A-6CE1BD484F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72555" y="2503170"/>
            <a:ext cx="2858262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A247E42-917A-4EF7-86C3-6B2656397D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44100" y="2571750"/>
            <a:ext cx="2514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DataStore Preferences + Gson JSON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21D19182-6296-429C-9DB5-165D5B9A9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06500" y="2495550"/>
            <a:ext cx="342900" cy="4572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000" b="1">
                <a:solidFill>
                  <a:srgbClr val="6D778A"/>
                </a:solidFill>
              </a:defRPr>
            </a:pPr>
            <a:r>
              <a:rPr sz="3000" b="1">
                <a:solidFill>
                  <a:srgbClr val="6D778A"/>
                </a:solidFill>
              </a:rPr>
              <a:t>→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DD4E83D5-3398-4EF9-B709-7F51B430E6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509176" y="2503170"/>
            <a:ext cx="2016824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9EF1823-A008-41FE-B32C-5F3A81CB561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5678150" y="2571750"/>
            <a:ext cx="1676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图表 / 导出 / 预算反馈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6540F029-84E3-4BA5-B5A4-C8E4140F5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62000" y="9467850"/>
            <a:ext cx="40386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</p:spTree>
    <p:extLst>
      <p:ext uri="{BB962C8B-B14F-4D97-AF65-F5344CB8AC3E}">
        <p14:creationId xmlns:p14="http://schemas.microsoft.com/office/powerpoint/2010/main" val="706195861"/>
      </p:ext>
    </p:extLst>
  </p:cSld>
</p:sld>
</file>

<file path=ppt/slides/slide4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BB27F3E6-E766-4B6B-ADDE-F957D763B3C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0CC4C3F-488A-42CD-8DCB-190FA817B5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2865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DE7795D4-176F-4CDB-94C5-754542876B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2500" y="7048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功能闭环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852B6D0E-8F31-409C-9297-51FA89D9FC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085850"/>
            <a:ext cx="59436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600" b="1">
                <a:solidFill>
                  <a:srgbClr val="F4F7FB"/>
                </a:solidFill>
              </a:defRPr>
            </a:pPr>
            <a:r>
              <a:rPr sz="3600" b="1">
                <a:solidFill>
                  <a:srgbClr val="F4F7FB"/>
                </a:solidFill>
              </a:rPr>
              <a:t>一套完整的个人记账使用流程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A0EA96EC-2293-4B64-B569-6E6B55B6638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1733550"/>
            <a:ext cx="167259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项目不是单点功能演示，而是从身份认证到数据导出的完整业务链路。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DBA7F6D-0F98-40A6-A1C8-9F35E7FE54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2198370"/>
            <a:ext cx="3208020" cy="4286250"/>
          </a:xfrm>
          <a:prstGeom xmlns:a="http://schemas.openxmlformats.org/drawingml/2006/main" prst="roundRect">
            <a:avLst>
              <a:gd name="adj" fmla="val 831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7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fe594dc61d443de"/>
          <a:stretch xmlns:a="http://schemas.openxmlformats.org/drawingml/2006/main"/>
        </p:blipFill>
        <p:spPr>
          <a:xfrm xmlns:a="http://schemas.openxmlformats.org/drawingml/2006/main">
            <a:off x="952500" y="2369820"/>
            <a:ext cx="2865120" cy="3943350"/>
          </a:xfrm>
          <a:prstGeom xmlns:a="http://schemas.openxmlformats.org/drawingml/2006/main" prst="roundRect">
            <a:avLst>
              <a:gd name="adj" fmla="val 6649"/>
            </a:avLst>
          </a:prstGeom>
        </p:spPr>
      </p:pic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EF1F9303-5855-442F-A94D-D2E2D2126CE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61035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1. 登录 / 注册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338C8446-490E-4C5C-B76F-9EC5A6F47AB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6953250"/>
            <a:ext cx="320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首次使用完成注册，后续根据本地登录状态直达主页。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53E1E9-3C86-4A18-AFF8-D6638066A6D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60520" y="2198370"/>
            <a:ext cx="3208020" cy="4286250"/>
          </a:xfrm>
          <a:prstGeom xmlns:a="http://schemas.openxmlformats.org/drawingml/2006/main" prst="roundRect">
            <a:avLst>
              <a:gd name="adj" fmla="val 831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1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1efbcc80c4e94807"/>
          <a:stretch xmlns:a="http://schemas.openxmlformats.org/drawingml/2006/main"/>
        </p:blipFill>
        <p:spPr>
          <a:xfrm xmlns:a="http://schemas.openxmlformats.org/drawingml/2006/main">
            <a:off x="4331970" y="2369820"/>
            <a:ext cx="2865120" cy="3943350"/>
          </a:xfrm>
          <a:prstGeom xmlns:a="http://schemas.openxmlformats.org/drawingml/2006/main" prst="roundRect">
            <a:avLst>
              <a:gd name="adj" fmla="val 6649"/>
            </a:avLst>
          </a:prstGeom>
        </p:spPr>
      </p:pic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3A5812E5-13A1-41CA-A5DC-E546FF129F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61035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2. 首页总览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FB76AC26-060B-4371-8760-DF09F6834FB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4152900" y="6953250"/>
            <a:ext cx="32004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查看本月结余、今日收支与近期账单。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8FC341E2-0A24-4B49-831C-BE8ED1AF2A0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39990" y="2198370"/>
            <a:ext cx="3208020" cy="4286250"/>
          </a:xfrm>
          <a:prstGeom xmlns:a="http://schemas.openxmlformats.org/drawingml/2006/main" prst="roundRect">
            <a:avLst>
              <a:gd name="adj" fmla="val 831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15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bd2de991abe842bd"/>
          <a:stretch xmlns:a="http://schemas.openxmlformats.org/drawingml/2006/main"/>
        </p:blipFill>
        <p:spPr>
          <a:xfrm xmlns:a="http://schemas.openxmlformats.org/drawingml/2006/main">
            <a:off x="7711440" y="2369820"/>
            <a:ext cx="2865120" cy="3943350"/>
          </a:xfrm>
          <a:prstGeom xmlns:a="http://schemas.openxmlformats.org/drawingml/2006/main" prst="roundRect">
            <a:avLst>
              <a:gd name="adj" fmla="val 6649"/>
            </a:avLst>
          </a:prstGeom>
        </p:spPr>
      </p:pic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9E3A4772-F138-4F63-A6E4-6B80654C6ED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61035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3. 账单录入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0D572813-590C-4E40-AE28-598A1A78D13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543800" y="6953250"/>
            <a:ext cx="320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选择收支类型、金额、分类与备注后即时保存。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7190F8C5-856B-47A1-B135-11A08F25761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9460" y="2198370"/>
            <a:ext cx="3208020" cy="4286250"/>
          </a:xfrm>
          <a:prstGeom xmlns:a="http://schemas.openxmlformats.org/drawingml/2006/main" prst="roundRect">
            <a:avLst>
              <a:gd name="adj" fmla="val 831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1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24841ef37e4d4f4c"/>
          <a:stretch xmlns:a="http://schemas.openxmlformats.org/drawingml/2006/main"/>
        </p:blipFill>
        <p:spPr>
          <a:xfrm xmlns:a="http://schemas.openxmlformats.org/drawingml/2006/main">
            <a:off x="11090910" y="2369820"/>
            <a:ext cx="2865120" cy="3943350"/>
          </a:xfrm>
          <a:prstGeom xmlns:a="http://schemas.openxmlformats.org/drawingml/2006/main" prst="roundRect">
            <a:avLst>
              <a:gd name="adj" fmla="val 6649"/>
            </a:avLst>
          </a:prstGeom>
        </p:spPr>
      </p:pic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B7A7DE42-B86B-48F5-89AF-1B9E1658B9E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61035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4. 报表统计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1B211A47-FAA3-47C1-AD14-078DBB013D4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915650" y="6953250"/>
            <a:ext cx="320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饼图、柱状图、折线图帮助用户做消费复盘。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FC0D4A0D-33BB-43F8-9D6D-2A9DD38C7A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298930" y="2198370"/>
            <a:ext cx="3208020" cy="4286250"/>
          </a:xfrm>
          <a:prstGeom xmlns:a="http://schemas.openxmlformats.org/drawingml/2006/main" prst="roundRect">
            <a:avLst>
              <a:gd name="adj" fmla="val 831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23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3cd2d804ac7d48b8"/>
          <a:stretch xmlns:a="http://schemas.openxmlformats.org/drawingml/2006/main"/>
        </p:blipFill>
        <p:spPr>
          <a:xfrm xmlns:a="http://schemas.openxmlformats.org/drawingml/2006/main">
            <a:off x="14470380" y="2369820"/>
            <a:ext cx="2865120" cy="3943350"/>
          </a:xfrm>
          <a:prstGeom xmlns:a="http://schemas.openxmlformats.org/drawingml/2006/main" prst="roundRect">
            <a:avLst>
              <a:gd name="adj" fmla="val 6649"/>
            </a:avLst>
          </a:prstGeom>
        </p:spPr>
      </p:pic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14453B36-34AB-456F-878C-57B7AA9D5A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610350"/>
            <a:ext cx="32004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5. 预算预警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6F067246-936B-4E52-9DD9-EAC0302CE9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306550" y="6953250"/>
            <a:ext cx="32004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随着支出增长，进度条颜色变化形成直观提醒。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3C5C8B6-6DA5-4927-8CC6-88B6FA1022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781050" y="9505950"/>
            <a:ext cx="16725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</p:spTree>
    <p:extLst>
      <p:ext uri="{BB962C8B-B14F-4D97-AF65-F5344CB8AC3E}">
        <p14:creationId xmlns:p14="http://schemas.microsoft.com/office/powerpoint/2010/main" val="392809512"/>
      </p:ext>
    </p:extLst>
  </p:cSld>
</p:sld>
</file>

<file path=ppt/slides/slide5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11BB9C6-960B-4851-B82B-F7C66BCDCB1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6F4067C8-71FF-46D6-A487-B4AC6FAD8F6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E4F898C0-A923-4350-873B-8819890E5D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实现亮点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1E7D710C-DF1F-485E-8E15-CC496361A72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7391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把课程设计做出“产品感”的几个关键点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357A0505-AA63-4F5A-998D-4DDA8910B8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5470"/>
            <a:ext cx="7527417" cy="3429000"/>
          </a:xfrm>
          <a:prstGeom xmlns:a="http://schemas.openxmlformats.org/drawingml/2006/main" prst="roundRect">
            <a:avLst>
              <a:gd name="adj" fmla="val 7778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6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ef782d3aa81a410e"/>
          <a:stretch xmlns:a="http://schemas.openxmlformats.org/drawingml/2006/main"/>
        </p:blipFill>
        <p:spPr>
          <a:xfrm xmlns:a="http://schemas.openxmlformats.org/drawingml/2006/main">
            <a:off x="971550" y="2026920"/>
            <a:ext cx="7184517" cy="3086100"/>
          </a:xfrm>
          <a:prstGeom xmlns:a="http://schemas.openxmlformats.org/drawingml/2006/main" prst="roundRect">
            <a:avLst>
              <a:gd name="adj" fmla="val 6173"/>
            </a:avLst>
          </a:prstGeom>
        </p:spPr>
      </p:pic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FE17E19-0DD0-475E-8098-8DD1C047A7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410200"/>
            <a:ext cx="752475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报表页真实界面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4DADE5DA-8CCA-4811-93EA-D29AD4B0B5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5817870"/>
            <a:ext cx="7527417" cy="3444240"/>
          </a:xfrm>
          <a:prstGeom xmlns:a="http://schemas.openxmlformats.org/drawingml/2006/main" prst="roundRect">
            <a:avLst>
              <a:gd name="adj" fmla="val 6637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9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dc11784bf0ab4964"/>
          <a:stretch xmlns:a="http://schemas.openxmlformats.org/drawingml/2006/main"/>
        </p:blipFill>
        <p:spPr>
          <a:xfrm xmlns:a="http://schemas.openxmlformats.org/drawingml/2006/main">
            <a:off x="990600" y="6008370"/>
            <a:ext cx="7146417" cy="3063240"/>
          </a:xfrm>
          <a:prstGeom xmlns:a="http://schemas.openxmlformats.org/drawingml/2006/main" prst="rect">
            <a:avLst/>
          </a:prstGeom>
        </p:spPr>
      </p:pic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C1BA16F5-0F8A-4DE2-BDCA-BF4D273832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367" y="1855470"/>
            <a:ext cx="4332542" cy="3617595"/>
          </a:xfrm>
          <a:prstGeom xmlns:a="http://schemas.openxmlformats.org/drawingml/2006/main" prst="roundRect">
            <a:avLst>
              <a:gd name="adj" fmla="val 684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C327F1DC-C1EB-4A48-8C59-8E7B04F06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1336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/>
          </a:solidFill>
        </p:spPr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CC6E937E-D183-4CAD-A7E2-9C8BA39C55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305050"/>
            <a:ext cx="3790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共享状态管理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E5A0565B-3518-4DB7-9F8A-C64EBEFB13B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278130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首页与报表页订阅同一数据源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80E397F-7DB1-47D5-A84E-58D40F064A9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316230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减少跨页面通信复杂度</a:t>
            </a:r>
          </a:p>
        </p:txBody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12118132-CE66-4CB3-A2AD-E3028B9E55D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5359" y="1855470"/>
            <a:ext cx="4332542" cy="3617595"/>
          </a:xfrm>
          <a:prstGeom xmlns:a="http://schemas.openxmlformats.org/drawingml/2006/main" prst="roundRect">
            <a:avLst>
              <a:gd name="adj" fmla="val 684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2C9F0926-E43D-4D13-B3A1-E692A3D5C5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21336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</p:spPr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C305AE40-DF22-4DBF-9206-22F11BDE6F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305050"/>
            <a:ext cx="3790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预算联动反馈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F070BF4E-256B-4461-B4C3-F31840DADB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278130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MediatorLiveData 同时监听预算与账单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87C2FB5A-4060-4DA2-BE08-80373B74FA9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316230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新增支出后自动重算进度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3B588544-3C7C-4EF7-8BF9-DE4CFEC6F8E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651367" y="5644515"/>
            <a:ext cx="4332542" cy="3617595"/>
          </a:xfrm>
          <a:prstGeom xmlns:a="http://schemas.openxmlformats.org/drawingml/2006/main" prst="roundRect">
            <a:avLst>
              <a:gd name="adj" fmla="val 684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20E74E23-B3BE-4778-A462-7A8A735973C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59055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/>
          </a:solidFill>
        </p:spPr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E33EFE3F-64D8-42CB-9A86-7CE41FD8CC0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096000"/>
            <a:ext cx="3790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图表展示完整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3A774566-9BD3-4F87-9370-FA099BE3A43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57225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饼图看分类占比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856C0A5-B4FA-4726-80CF-247C5E7C63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695325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柱状图看近 7 日波动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5D02A763-F675-47AE-B1AD-F7C85B4AB5D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915400" y="733425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折线图看资产变化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C36D5F80-45CE-4F34-A8FD-F5C9C88008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155359" y="5644515"/>
            <a:ext cx="4332542" cy="3617595"/>
          </a:xfrm>
          <a:prstGeom xmlns:a="http://schemas.openxmlformats.org/drawingml/2006/main" prst="roundRect">
            <a:avLst>
              <a:gd name="adj" fmla="val 684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C030171-9B34-4A17-836E-13B04CB420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11200" y="59055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D6B5"/>
          </a:solidFill>
        </p:spPr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34F1303-A853-42F0-B937-EBC9F822598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096000"/>
            <a:ext cx="37909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交互细节更丰富</a:t>
            </a:r>
          </a:p>
        </p:txBody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82A931D-09F8-4460-9D71-19186DD33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57225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账单支持滑动展开编辑 / 删除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FAC3187-4E3B-4EBB-8392-24793B694A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30250" y="6953250"/>
            <a:ext cx="37909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CSV 导出后可直接调用系统分享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5471CA86-4454-41F6-81D1-018F98E8A5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86900"/>
            <a:ext cx="752475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</p:spTree>
    <p:extLst>
      <p:ext uri="{BB962C8B-B14F-4D97-AF65-F5344CB8AC3E}">
        <p14:creationId xmlns:p14="http://schemas.microsoft.com/office/powerpoint/2010/main" val="1399070427"/>
      </p:ext>
    </p:extLst>
  </p:cSld>
</p:sld>
</file>

<file path=ppt/slides/slide6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20C6A4C2-912E-46F8-8585-91466207F47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F8EB3DD-FC22-41E5-B699-9C69F822D1B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4770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803F39FF-36B8-41F5-A01D-006BBF2CFC4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239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数据设计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A96B090C-DD2E-44A6-9C6E-7F6E7E791EF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04900"/>
            <a:ext cx="701040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当前轻量持久化方案与后续扩展路径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0F9F5E02-2D93-4AEC-AB9F-CE22C7333E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855470"/>
            <a:ext cx="8181975" cy="2087880"/>
          </a:xfrm>
          <a:prstGeom xmlns:a="http://schemas.openxmlformats.org/drawingml/2006/main" prst="roundRect">
            <a:avLst>
              <a:gd name="adj" fmla="val 11861"/>
            </a:avLst>
          </a:prstGeom>
          <a:solidFill xmlns:a="http://schemas.openxmlformats.org/drawingml/2006/main">
            <a:srgbClr val="192334"/>
          </a:solidFill>
        </p:spPr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E0239E35-44EF-4857-8F50-5343C8B0C78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11455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当前实现：DataStore Preferences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1A84D572-4CA1-4A12-81DC-D9182C9F2EF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09850"/>
            <a:ext cx="7658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7A4BA"/>
                </a:solidFill>
              </a:defRPr>
            </a:pPr>
            <a:r>
              <a:rPr sz="1800">
                <a:solidFill>
                  <a:srgbClr val="97A4BA"/>
                </a:solidFill>
              </a:rPr>
              <a:t>账户、预算和账单列表保存在本地；账单列表通过 Gson 序列化为 JSON 字符串。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9B87CA7A-EFE8-41C0-A65D-D1AD7FEFDDB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31851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E0C8EC3A-1C06-4F1B-A51D-AE62303197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38250" y="33909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异步读写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2E982721-20EC-4A22-9182-6A86A66E451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209800" y="3318510"/>
            <a:ext cx="120015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9E7B22B2-C444-4D42-8448-53D6D50E102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381250" y="33909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实现成本低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2B353E7-EC47-48C8-8C82-FFEB2B92EA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524250" y="3318510"/>
            <a:ext cx="20574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676243D4-65DE-4ED2-A82C-627990FC45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695700" y="3390900"/>
            <a:ext cx="17145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适合中小规模离线数据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585B1ED5-674A-4F55-B16F-06B9A0FEB1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114800"/>
            <a:ext cx="8181975" cy="2423160"/>
          </a:xfrm>
          <a:prstGeom xmlns:a="http://schemas.openxmlformats.org/drawingml/2006/main" prst="roundRect">
            <a:avLst>
              <a:gd name="adj" fmla="val 10220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62515E46-0D02-4D72-AD39-EFEE900279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815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/>
          </a:solidFill>
        </p:spPr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3B6191CD-FCA7-4733-9EBB-2F23BEC7769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57200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当前链路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913FE924-3BEC-48C0-9CE2-8CC1EC1109C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04825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UI 操作 → ViewModel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F9D1CAD-095C-4533-B9CC-7AA2A6D150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42925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ViewModel → DataStoreManager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67259A75-7213-416A-8706-90016D1322E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579120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DataStore → LiveData 回流界面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DD35182E-4D2D-476A-95D6-285309125C3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709410"/>
            <a:ext cx="8181975" cy="2190750"/>
          </a:xfrm>
          <a:prstGeom xmlns:a="http://schemas.openxmlformats.org/drawingml/2006/main" prst="roundRect">
            <a:avLst>
              <a:gd name="adj" fmla="val 12174"/>
            </a:avLst>
          </a:prstGeom>
          <a:solidFill xmlns:a="http://schemas.openxmlformats.org/drawingml/2006/main">
            <a:srgbClr val="1B202A"/>
          </a:solidFill>
        </p:spPr>
      </p:sp>
      <p:pic>
        <p:nvPicPr>
          <p:cNvPr id="21" name=""/>
          <p:cNvPicPr>
            <a:picLocks xmlns:a="http://schemas.openxmlformats.org/drawingml/2006/main" noChangeAspect="1"/>
          </p:cNvPicPr>
          <p:nvPr/>
        </p:nvPicPr>
        <p:blipFill>
          <a:blip xmlns:r="http://schemas.openxmlformats.org/officeDocument/2006/relationships" xmlns:a="http://schemas.openxmlformats.org/drawingml/2006/main" r:embed="R4624a47c026e4f8f"/>
          <a:stretch xmlns:a="http://schemas.openxmlformats.org/drawingml/2006/main"/>
        </p:blipFill>
        <p:spPr>
          <a:xfrm xmlns:a="http://schemas.openxmlformats.org/drawingml/2006/main">
            <a:off x="971550" y="6880860"/>
            <a:ext cx="7839075" cy="1847850"/>
          </a:xfrm>
          <a:prstGeom xmlns:a="http://schemas.openxmlformats.org/drawingml/2006/main" prst="roundRect">
            <a:avLst>
              <a:gd name="adj" fmla="val 10309"/>
            </a:avLst>
          </a:prstGeom>
        </p:spPr>
      </p:pic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38FF7D2B-B3DA-4517-BA57-7F71E19796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029700"/>
            <a:ext cx="8191500" cy="2286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00">
                <a:solidFill>
                  <a:srgbClr val="97A4BA"/>
                </a:solidFill>
              </a:defRPr>
            </a:pPr>
            <a:r>
              <a:rPr sz="1500">
                <a:solidFill>
                  <a:srgbClr val="97A4BA"/>
                </a:solidFill>
              </a:rPr>
              <a:t>工程实现截图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97EB79E3-FCC1-41AE-9586-919221D84A7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1855470"/>
            <a:ext cx="8181975" cy="1577340"/>
          </a:xfrm>
          <a:prstGeom xmlns:a="http://schemas.openxmlformats.org/drawingml/2006/main" prst="roundRect">
            <a:avLst>
              <a:gd name="adj" fmla="val 15700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9658DDD-791C-49A2-9B0C-28C317BAEA6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11455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扩展方向：关系型数据库建模</a:t>
            </a:r>
          </a:p>
        </p:txBody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A50AF303-1FBD-436C-8581-4E10DCA799AC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2609850"/>
            <a:ext cx="76581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7A4BA"/>
                </a:solidFill>
              </a:defRPr>
            </a:pPr>
            <a:r>
              <a:rPr sz="1800">
                <a:solidFill>
                  <a:srgbClr val="97A4BA"/>
                </a:solidFill>
              </a:rPr>
              <a:t>仓库额外整理了数据库表设计文档，说明项目已经为未来从轻量存储迁移到规范化数据层预留了路径。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89F38FDA-CE53-4A99-A9FB-8F3DA7BA19C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3604260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41960829-9BFE-4CE6-8DB9-B81BF87A4A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3676650"/>
            <a:ext cx="381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users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CA39A3CE-4F0E-4896-8D65-35B06963BFF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3588" y="3604260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7D4D6EB-7A88-461C-B03A-E9DBE854505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3676650"/>
            <a:ext cx="10287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ledger_entries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1A76FF97-010A-4DDC-A5BB-F2515AB5354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4323398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A4584134-EDEC-43B0-8323-4909F1426D1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4400550"/>
            <a:ext cx="7239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categories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486DA22E-1D0F-4F47-A230-8B8717A918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3588" y="4323398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D6B5">
              <a:alpha val="12549"/>
            </a:srgbClr>
          </a:solidFill>
        </p:spPr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B2BA2E57-4E45-44BA-BA5D-16855F2536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4400550"/>
            <a:ext cx="5715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1D6B5"/>
                </a:solidFill>
              </a:defRPr>
            </a:pPr>
            <a:r>
              <a:rPr sz="1350" b="1">
                <a:solidFill>
                  <a:srgbClr val="71D6B5"/>
                </a:solidFill>
              </a:rPr>
              <a:t>budgets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47AC4859-212B-4274-B020-0482820E237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042535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8EA3D6">
              <a:alpha val="12549"/>
            </a:srgbClr>
          </a:solidFill>
        </p:spPr>
      </p:sp>
      <p:sp>
        <p:nvSpPr>
          <p:cNvPr id="35" name="">
            <a:extLst xmlns:a="http://schemas.openxmlformats.org/drawingml/2006/main">
              <a:ext uri="{FF2B5EF4-FFF2-40B4-BE49-F238E27FC236}">
                <a16:creationId xmlns:a16="http://schemas.microsoft.com/office/drawing/2014/main" id="{6CF00039-3149-4D5C-84CA-D0BEACB8F17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124450"/>
            <a:ext cx="7620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8EA3D6"/>
                </a:solidFill>
              </a:defRPr>
            </a:pPr>
            <a:r>
              <a:rPr sz="1350" b="1">
                <a:solidFill>
                  <a:srgbClr val="8EA3D6"/>
                </a:solidFill>
              </a:rPr>
              <a:t>daily_stats</a:t>
            </a:r>
          </a:p>
        </p:txBody>
      </p:sp>
      <p:sp>
        <p:nvSpPr>
          <p:cNvPr id="36" name="">
            <a:extLst xmlns:a="http://schemas.openxmlformats.org/drawingml/2006/main">
              <a:ext uri="{FF2B5EF4-FFF2-40B4-BE49-F238E27FC236}">
                <a16:creationId xmlns:a16="http://schemas.microsoft.com/office/drawing/2014/main" id="{9D267D66-FAE9-44DC-8359-E94F0F627F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3588" y="5042535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37" name="">
            <a:extLst xmlns:a="http://schemas.openxmlformats.org/drawingml/2006/main">
              <a:ext uri="{FF2B5EF4-FFF2-40B4-BE49-F238E27FC236}">
                <a16:creationId xmlns:a16="http://schemas.microsoft.com/office/drawing/2014/main" id="{7279EE7F-A5E8-4309-A4A5-47A3AAB5840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124450"/>
            <a:ext cx="10096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monthly_stats</a:t>
            </a:r>
          </a:p>
        </p:txBody>
      </p:sp>
      <p:sp>
        <p:nvSpPr>
          <p:cNvPr id="38" name="">
            <a:extLst xmlns:a="http://schemas.openxmlformats.org/drawingml/2006/main">
              <a:ext uri="{FF2B5EF4-FFF2-40B4-BE49-F238E27FC236}">
                <a16:creationId xmlns:a16="http://schemas.microsoft.com/office/drawing/2014/main" id="{32F3E894-F189-4572-B6B7-5EA622B4650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5761673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39" name="">
            <a:extLst xmlns:a="http://schemas.openxmlformats.org/drawingml/2006/main">
              <a:ext uri="{FF2B5EF4-FFF2-40B4-BE49-F238E27FC236}">
                <a16:creationId xmlns:a16="http://schemas.microsoft.com/office/drawing/2014/main" id="{913619E6-2FFC-4EDF-89F1-62C0F51136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486900" y="5829300"/>
            <a:ext cx="89535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app_settings</a:t>
            </a:r>
          </a:p>
        </p:txBody>
      </p:sp>
      <p:sp>
        <p:nvSpPr>
          <p:cNvPr id="40" name="">
            <a:extLst xmlns:a="http://schemas.openxmlformats.org/drawingml/2006/main">
              <a:ext uri="{FF2B5EF4-FFF2-40B4-BE49-F238E27FC236}">
                <a16:creationId xmlns:a16="http://schemas.microsoft.com/office/drawing/2014/main" id="{95A302F0-5EBE-407B-B6A1-B3C3F3DFF59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463588" y="5761673"/>
            <a:ext cx="4024313" cy="585788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8B8B">
              <a:alpha val="12549"/>
            </a:srgbClr>
          </a:solidFill>
        </p:spPr>
      </p:sp>
      <p:sp>
        <p:nvSpPr>
          <p:cNvPr id="41" name="">
            <a:extLst xmlns:a="http://schemas.openxmlformats.org/drawingml/2006/main">
              <a:ext uri="{FF2B5EF4-FFF2-40B4-BE49-F238E27FC236}">
                <a16:creationId xmlns:a16="http://schemas.microsoft.com/office/drawing/2014/main" id="{3AB78983-231A-4559-AC34-654BDCBD9FC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639800" y="5829300"/>
            <a:ext cx="1066800" cy="4191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8B8B"/>
                </a:solidFill>
              </a:defRPr>
            </a:pPr>
            <a:r>
              <a:rPr sz="1350" b="1">
                <a:solidFill>
                  <a:srgbClr val="FF8B8B"/>
                </a:solidFill>
              </a:rPr>
              <a:t>operation_logs</a:t>
            </a:r>
          </a:p>
        </p:txBody>
      </p:sp>
      <p:sp>
        <p:nvSpPr>
          <p:cNvPr id="42" name="">
            <a:extLst xmlns:a="http://schemas.openxmlformats.org/drawingml/2006/main">
              <a:ext uri="{FF2B5EF4-FFF2-40B4-BE49-F238E27FC236}">
                <a16:creationId xmlns:a16="http://schemas.microsoft.com/office/drawing/2014/main" id="{A190C3E9-B2A9-4397-836E-2256CF4543BE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305925" y="6518910"/>
            <a:ext cx="8181975" cy="2743200"/>
          </a:xfrm>
          <a:prstGeom xmlns:a="http://schemas.openxmlformats.org/drawingml/2006/main" prst="roundRect">
            <a:avLst>
              <a:gd name="adj" fmla="val 9028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43" name="">
            <a:extLst xmlns:a="http://schemas.openxmlformats.org/drawingml/2006/main">
              <a:ext uri="{FF2B5EF4-FFF2-40B4-BE49-F238E27FC236}">
                <a16:creationId xmlns:a16="http://schemas.microsoft.com/office/drawing/2014/main" id="{87ED1893-459E-4C73-8C09-0F2E6A5BC1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63100" y="67818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/>
          </a:solidFill>
        </p:spPr>
      </p:sp>
      <p:sp>
        <p:nvSpPr>
          <p:cNvPr id="44" name="">
            <a:extLst xmlns:a="http://schemas.openxmlformats.org/drawingml/2006/main">
              <a:ext uri="{FF2B5EF4-FFF2-40B4-BE49-F238E27FC236}">
                <a16:creationId xmlns:a16="http://schemas.microsoft.com/office/drawing/2014/main" id="{1E182E6D-6E5A-43C8-A19B-4731F765EF3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6972300"/>
            <a:ext cx="76581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价值</a:t>
            </a:r>
          </a:p>
        </p:txBody>
      </p:sp>
      <p:sp>
        <p:nvSpPr>
          <p:cNvPr id="45" name="">
            <a:extLst xmlns:a="http://schemas.openxmlformats.org/drawingml/2006/main">
              <a:ext uri="{FF2B5EF4-FFF2-40B4-BE49-F238E27FC236}">
                <a16:creationId xmlns:a16="http://schemas.microsoft.com/office/drawing/2014/main" id="{1FE92A90-BF07-47C6-8E8C-9710473FDE4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44855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当前版本足够轻便</a:t>
            </a:r>
          </a:p>
        </p:txBody>
      </p:sp>
      <p:sp>
        <p:nvSpPr>
          <p:cNvPr id="46" name="">
            <a:extLst xmlns:a="http://schemas.openxmlformats.org/drawingml/2006/main">
              <a:ext uri="{FF2B5EF4-FFF2-40B4-BE49-F238E27FC236}">
                <a16:creationId xmlns:a16="http://schemas.microsoft.com/office/drawing/2014/main" id="{9185E7B9-2B8D-4548-8C48-062C95000BD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582150" y="7829550"/>
            <a:ext cx="76581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后续版本也具备工程升级空间</a:t>
            </a:r>
          </a:p>
        </p:txBody>
      </p:sp>
      <p:sp>
        <p:nvSpPr>
          <p:cNvPr id="47" name="">
            <a:extLst xmlns:a="http://schemas.openxmlformats.org/drawingml/2006/main">
              <a:ext uri="{FF2B5EF4-FFF2-40B4-BE49-F238E27FC236}">
                <a16:creationId xmlns:a16="http://schemas.microsoft.com/office/drawing/2014/main" id="{78332A64-05DE-47A3-A7A2-2498A63D1C5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86900"/>
            <a:ext cx="81915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</p:spTree>
    <p:extLst>
      <p:ext uri="{BB962C8B-B14F-4D97-AF65-F5344CB8AC3E}">
        <p14:creationId xmlns:p14="http://schemas.microsoft.com/office/powerpoint/2010/main" val="1397822766"/>
      </p:ext>
    </p:extLst>
  </p:cSld>
</p:sld>
</file>

<file path=ppt/slides/slide7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DF29569-508D-492F-B6B9-74331E8F353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F4B6D43C-1F3E-43C2-B15D-F49D9FF1168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6675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79C2856E-4BCF-4DCC-A90A-8EC9CDEE068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4295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测试结果</a:t>
            </a:r>
          </a:p>
        </p:txBody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4B5EE0BA-8C2A-48D9-B4B0-81BA6D5E762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23950"/>
            <a:ext cx="6572250" cy="533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450" b="1">
                <a:solidFill>
                  <a:srgbClr val="F4F7FB"/>
                </a:solidFill>
              </a:defRPr>
            </a:pPr>
            <a:r>
              <a:rPr sz="3450" b="1">
                <a:solidFill>
                  <a:srgbClr val="F4F7FB"/>
                </a:solidFill>
              </a:rPr>
              <a:t>系统运行稳定，核心功能闭环完整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D4DFFA16-AA08-44DF-AF4D-04097BF7A0D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733550"/>
            <a:ext cx="16687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>
                <a:solidFill>
                  <a:srgbClr val="97A4BA"/>
                </a:solidFill>
              </a:defRPr>
            </a:pPr>
            <a:r>
              <a:rPr sz="1350">
                <a:solidFill>
                  <a:srgbClr val="97A4BA"/>
                </a:solidFill>
              </a:rPr>
              <a:t>论文第 5 章在实机环境下完成功能测试、性能观察和兼容性验证。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D2BB17D9-90B8-423F-A912-3D12F8BBE21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175510"/>
            <a:ext cx="4869180" cy="7067550"/>
          </a:xfrm>
          <a:prstGeom xmlns:a="http://schemas.openxmlformats.org/drawingml/2006/main" prst="roundRect">
            <a:avLst>
              <a:gd name="adj" fmla="val 508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08F57BC3-8500-491F-AE64-1497438E6AA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4384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/>
          </a:solidFill>
        </p:spPr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C08C2A39-D538-42BF-A9DC-016B663D89F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2628900"/>
            <a:ext cx="43434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测试环境</a:t>
            </a:r>
          </a:p>
        </p:txBody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CA96A33-161D-4BF1-846D-C7C22F5E66E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105150"/>
            <a:ext cx="4343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设备：iQOO Neo 5 SE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E71DCB05-D0F9-4A9A-A38F-CBD062C22C9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486150"/>
            <a:ext cx="4343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系统：Android 14</a:t>
            </a:r>
          </a:p>
        </p:txBody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9045A82-D4A1-43A6-926E-C7F19F9D9AB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3848100"/>
            <a:ext cx="4343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开发工具：Android Studio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58C7D391-A5BB-43E1-8FE3-03B6F5F8F14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229100"/>
            <a:ext cx="43434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方法：黑盒测试</a:t>
            </a:r>
          </a:p>
        </p:txBody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74C136FD-B8D4-4A87-86FE-92686B3DADC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5897880" y="2175510"/>
            <a:ext cx="5274945" cy="7067550"/>
          </a:xfrm>
          <a:prstGeom xmlns:a="http://schemas.openxmlformats.org/drawingml/2006/main" prst="roundRect">
            <a:avLst>
              <a:gd name="adj" fmla="val 4695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A80BFE54-A0AE-4CE1-9D3D-5B833D689A9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4384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8018A9EC-6681-4C06-9337-651CCF36FF3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2628900"/>
            <a:ext cx="474345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重点验证模块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C91A7802-64CF-4D67-8C6F-10E7EF5B311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105150"/>
            <a:ext cx="474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注册 / 登录异常输入校验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FC6622EB-303F-414B-BABE-C8124CFB79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486150"/>
            <a:ext cx="474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账单录入判空与分类选择</a:t>
            </a:r>
          </a:p>
        </p:txBody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D97F72A5-93E0-489C-8087-12BFA7FBB4E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3848100"/>
            <a:ext cx="474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预算金额边界情况</a:t>
            </a:r>
          </a:p>
        </p:txBody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9CE0A2A9-BF83-4BDF-A28A-B5FAC912A66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6172200" y="4229100"/>
            <a:ext cx="474345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页面切换与数据刷新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EFD6F398-15D2-4B90-BD12-02185C31DC2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401425" y="2175510"/>
            <a:ext cx="6086475" cy="7067550"/>
          </a:xfrm>
          <a:prstGeom xmlns:a="http://schemas.openxmlformats.org/drawingml/2006/main" prst="roundRect">
            <a:avLst>
              <a:gd name="adj" fmla="val 4382"/>
            </a:avLst>
          </a:prstGeom>
          <a:solidFill xmlns:a="http://schemas.openxmlformats.org/drawingml/2006/main">
            <a:srgbClr val="182534"/>
          </a:solidFill>
        </p:spPr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3E6A7E39-64CD-4C88-9D00-055783A08ACA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4648200"/>
            <a:ext cx="55245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7AC7B6"/>
                </a:solidFill>
              </a:defRPr>
            </a:pPr>
            <a:r>
              <a:rPr sz="2100" b="1">
                <a:solidFill>
                  <a:srgbClr val="7AC7B6"/>
                </a:solidFill>
              </a:rPr>
              <a:t>结论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83003B23-9689-4203-B819-F7F6F3557B2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143500"/>
            <a:ext cx="5524500" cy="3810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400" b="1">
                <a:solidFill>
                  <a:srgbClr val="F4F7FB"/>
                </a:solidFill>
              </a:defRPr>
            </a:pPr>
            <a:r>
              <a:rPr sz="2400" b="1">
                <a:solidFill>
                  <a:srgbClr val="F4F7FB"/>
                </a:solidFill>
              </a:rPr>
              <a:t>各模块都能正确响应正常与异常输入。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15AACE46-CE07-4A78-BC75-E22C0FF07BA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96700" y="5676900"/>
            <a:ext cx="5524500" cy="5524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800">
                <a:solidFill>
                  <a:srgbClr val="97A4BA"/>
                </a:solidFill>
              </a:defRPr>
            </a:pPr>
            <a:r>
              <a:rPr sz="1800">
                <a:solidFill>
                  <a:srgbClr val="97A4BA"/>
                </a:solidFill>
              </a:rPr>
              <a:t>测试过程中未出现崩溃或数据异常，个别提示文案已完成优化。</a:t>
            </a:r>
          </a:p>
        </p:txBody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6170A9A7-20CE-4D26-AA8B-6C92FA9A8C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687175" y="640461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1D6B5">
              <a:alpha val="12549"/>
            </a:srgbClr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EB5DF323-0B00-4272-82CC-FE6F643884E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1868150" y="64770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1D6B5"/>
                </a:solidFill>
              </a:defRPr>
            </a:pPr>
            <a:r>
              <a:rPr sz="1350" b="1">
                <a:solidFill>
                  <a:srgbClr val="71D6B5"/>
                </a:solidFill>
              </a:rPr>
              <a:t>运行平稳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71408A2B-5D41-4E16-BE39-1035C48D8E5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2830175" y="640461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3CB65498-3820-4FC9-8DCE-0513991B82D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011150" y="64770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数据准确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3B0DBE67-739E-447D-A66A-469F635FFD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3973175" y="6404610"/>
            <a:ext cx="17145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CE0ACC09-8A0A-4DC3-9741-38B6E4D261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4154150" y="6477000"/>
            <a:ext cx="13716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满足日常记账需求</a:t>
            </a:r>
          </a:p>
        </p:txBody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0D027977-E7CE-4866-A57E-6B9AF02CB90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67850"/>
            <a:ext cx="48768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</p:spTree>
    <p:extLst>
      <p:ext uri="{BB962C8B-B14F-4D97-AF65-F5344CB8AC3E}">
        <p14:creationId xmlns:p14="http://schemas.microsoft.com/office/powerpoint/2010/main" val="1053650557"/>
      </p:ext>
    </p:extLst>
  </p:cSld>
</p:sld>
</file>

<file path=ppt/slides/slide8.xml><?xml version="1.0" encoding="utf-8"?>
<p:sld xmlns:p="http://schemas.openxmlformats.org/presentationml/2006/main">
  <p:cSld>
    <p:spTree>
      <p:nvGrpSpPr>
        <p:cNvPr id="1" name=""/>
        <p:cNvGrpSpPr/>
        <p:nvPr/>
      </p:nvGrpSpPr>
      <p:grpSpPr>
        <a:xfrm xmlns:a="http://schemas.openxmlformats.org/drawingml/2006/main"/>
      </p:grpSpPr>
      <p:sp>
        <p:nvSpPr>
          <p:cNvPr id="1" name="">
            <a:extLst xmlns:a="http://schemas.openxmlformats.org/drawingml/2006/main">
              <a:ext uri="{FF2B5EF4-FFF2-40B4-BE49-F238E27FC236}">
                <a16:creationId xmlns:a16="http://schemas.microsoft.com/office/drawing/2014/main" id="{4BFD77C4-7EA5-4591-B4BC-04C90F8A40A8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1028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3161D"/>
          </a:solidFill>
        </p:spPr>
      </p:sp>
      <p:sp>
        <p:nvSpPr>
          <p:cNvPr id="2" name="">
            <a:extLst xmlns:a="http://schemas.openxmlformats.org/drawingml/2006/main">
              <a:ext uri="{FF2B5EF4-FFF2-40B4-BE49-F238E27FC236}">
                <a16:creationId xmlns:a16="http://schemas.microsoft.com/office/drawing/2014/main" id="{322A972B-D239-48EB-830B-10274083C51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0" y="0"/>
            <a:ext cx="18288000" cy="2667000"/>
          </a:xfrm>
          <a:prstGeom xmlns:a="http://schemas.openxmlformats.org/drawingml/2006/main" prst="rect">
            <a:avLst/>
          </a:prstGeom>
          <a:solidFill xmlns:a="http://schemas.openxmlformats.org/drawingml/2006/main">
            <a:srgbClr val="17243C"/>
          </a:solidFill>
        </p:spPr>
      </p:sp>
      <p:sp>
        <p:nvSpPr>
          <p:cNvPr id="3" name="">
            <a:extLst xmlns:a="http://schemas.openxmlformats.org/drawingml/2006/main">
              <a:ext uri="{FF2B5EF4-FFF2-40B4-BE49-F238E27FC236}">
                <a16:creationId xmlns:a16="http://schemas.microsoft.com/office/drawing/2014/main" id="{3683F9F4-E674-4D38-BE72-A4FF7A4412C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685800"/>
            <a:ext cx="120015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4" name="">
            <a:extLst xmlns:a="http://schemas.openxmlformats.org/drawingml/2006/main">
              <a:ext uri="{FF2B5EF4-FFF2-40B4-BE49-F238E27FC236}">
                <a16:creationId xmlns:a16="http://schemas.microsoft.com/office/drawing/2014/main" id="{3708D4DC-11D2-4E16-877D-904909E4206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762000"/>
            <a:ext cx="8572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总结与展望</a:t>
            </a:r>
          </a:p>
        </p:txBody>
      </p:sp>
      <p:sp>
        <p:nvSpPr>
          <p:cNvPr id="5" name="">
            <a:extLst xmlns:a="http://schemas.openxmlformats.org/drawingml/2006/main">
              <a:ext uri="{FF2B5EF4-FFF2-40B4-BE49-F238E27FC236}">
                <a16:creationId xmlns:a16="http://schemas.microsoft.com/office/drawing/2014/main" id="{543E41EB-A4A9-4E0F-9090-469CC1C1B37F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1162050"/>
            <a:ext cx="11239500" cy="5715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3750" b="1">
                <a:solidFill>
                  <a:srgbClr val="F4F7FB"/>
                </a:solidFill>
              </a:defRPr>
            </a:pPr>
            <a:r>
              <a:rPr sz="3750" b="1">
                <a:solidFill>
                  <a:srgbClr val="F4F7FB"/>
                </a:solidFill>
              </a:rPr>
              <a:t>PersonalLedger 已经具备一款完整个人账本应用的雏形</a:t>
            </a:r>
          </a:p>
        </p:txBody>
      </p:sp>
      <p:sp>
        <p:nvSpPr>
          <p:cNvPr id="6" name="">
            <a:extLst xmlns:a="http://schemas.openxmlformats.org/drawingml/2006/main">
              <a:ext uri="{FF2B5EF4-FFF2-40B4-BE49-F238E27FC236}">
                <a16:creationId xmlns:a16="http://schemas.microsoft.com/office/drawing/2014/main" id="{A63E6B2F-E2F5-4394-A81F-A91DF7D1985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000250"/>
            <a:ext cx="859155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本次成果</a:t>
            </a:r>
          </a:p>
        </p:txBody>
      </p:sp>
      <p:sp>
        <p:nvSpPr>
          <p:cNvPr id="7" name="">
            <a:extLst xmlns:a="http://schemas.openxmlformats.org/drawingml/2006/main">
              <a:ext uri="{FF2B5EF4-FFF2-40B4-BE49-F238E27FC236}">
                <a16:creationId xmlns:a16="http://schemas.microsoft.com/office/drawing/2014/main" id="{A93D2847-662B-4227-80B7-AD64D02C07F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2495550"/>
            <a:ext cx="7029450" cy="8953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950">
                <a:solidFill>
                  <a:srgbClr val="97A4BA"/>
                </a:solidFill>
              </a:defRPr>
            </a:pPr>
            <a:r>
              <a:rPr sz="1950">
                <a:solidFill>
                  <a:srgbClr val="97A4BA"/>
                </a:solidFill>
              </a:rPr>
              <a:t>从需求分析、系统设计、代码实现到测试验证，项目已经完成了“能用、好讲、可扩展”的目标，适合作为课程设计或毕业设计成果展示。</a:t>
            </a:r>
          </a:p>
        </p:txBody>
      </p:sp>
      <p:sp>
        <p:nvSpPr>
          <p:cNvPr id="8" name="">
            <a:extLst xmlns:a="http://schemas.openxmlformats.org/drawingml/2006/main">
              <a:ext uri="{FF2B5EF4-FFF2-40B4-BE49-F238E27FC236}">
                <a16:creationId xmlns:a16="http://schemas.microsoft.com/office/drawing/2014/main" id="{732750F0-8EE6-4E7F-A11A-7525AAF6225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35509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>
              <a:alpha val="12549"/>
            </a:srgbClr>
          </a:solidFill>
        </p:spPr>
      </p:sp>
      <p:sp>
        <p:nvSpPr>
          <p:cNvPr id="9" name="">
            <a:extLst xmlns:a="http://schemas.openxmlformats.org/drawingml/2006/main">
              <a:ext uri="{FF2B5EF4-FFF2-40B4-BE49-F238E27FC236}">
                <a16:creationId xmlns:a16="http://schemas.microsoft.com/office/drawing/2014/main" id="{43C272EE-654F-4D05-968D-08E0B7FB569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" y="36195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5E7CE2"/>
                </a:solidFill>
              </a:defRPr>
            </a:pPr>
            <a:r>
              <a:rPr sz="1350" b="1">
                <a:solidFill>
                  <a:srgbClr val="5E7CE2"/>
                </a:solidFill>
              </a:rPr>
              <a:t>功能完整</a:t>
            </a:r>
          </a:p>
        </p:txBody>
      </p:sp>
      <p:sp>
        <p:nvSpPr>
          <p:cNvPr id="10" name="">
            <a:extLst xmlns:a="http://schemas.openxmlformats.org/drawingml/2006/main">
              <a:ext uri="{FF2B5EF4-FFF2-40B4-BE49-F238E27FC236}">
                <a16:creationId xmlns:a16="http://schemas.microsoft.com/office/drawing/2014/main" id="{9A81F5FA-26AA-4A67-BAFF-0581F295677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962150" y="3550920"/>
            <a:ext cx="102870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>
              <a:alpha val="12549"/>
            </a:srgbClr>
          </a:solidFill>
        </p:spPr>
      </p:sp>
      <p:sp>
        <p:nvSpPr>
          <p:cNvPr id="11" name="">
            <a:extLst xmlns:a="http://schemas.openxmlformats.org/drawingml/2006/main">
              <a:ext uri="{FF2B5EF4-FFF2-40B4-BE49-F238E27FC236}">
                <a16:creationId xmlns:a16="http://schemas.microsoft.com/office/drawing/2014/main" id="{0BEE6975-E9B5-4D36-AC26-8D350B1FA41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2133600" y="3619500"/>
            <a:ext cx="68580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7AC7B6"/>
                </a:solidFill>
              </a:defRPr>
            </a:pPr>
            <a:r>
              <a:rPr sz="1350" b="1">
                <a:solidFill>
                  <a:srgbClr val="7AC7B6"/>
                </a:solidFill>
              </a:rPr>
              <a:t>架构清晰</a:t>
            </a:r>
          </a:p>
        </p:txBody>
      </p:sp>
      <p:sp>
        <p:nvSpPr>
          <p:cNvPr id="12" name="">
            <a:extLst xmlns:a="http://schemas.openxmlformats.org/drawingml/2006/main">
              <a:ext uri="{FF2B5EF4-FFF2-40B4-BE49-F238E27FC236}">
                <a16:creationId xmlns:a16="http://schemas.microsoft.com/office/drawing/2014/main" id="{9071B54C-7CB0-4D77-83AB-0ADBDC2F257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124200" y="3550920"/>
            <a:ext cx="1543050" cy="35814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>
              <a:alpha val="12549"/>
            </a:srgbClr>
          </a:solidFill>
        </p:spPr>
      </p:sp>
      <p:sp>
        <p:nvSpPr>
          <p:cNvPr id="13" name="">
            <a:extLst xmlns:a="http://schemas.openxmlformats.org/drawingml/2006/main">
              <a:ext uri="{FF2B5EF4-FFF2-40B4-BE49-F238E27FC236}">
                <a16:creationId xmlns:a16="http://schemas.microsoft.com/office/drawing/2014/main" id="{4CDBABD7-C679-46E5-BF63-EA4C7B5687C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3295650" y="3619500"/>
            <a:ext cx="1200150" cy="2095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350" b="1">
                <a:solidFill>
                  <a:srgbClr val="FFB86B"/>
                </a:solidFill>
              </a:defRPr>
            </a:pPr>
            <a:r>
              <a:rPr sz="1350" b="1">
                <a:solidFill>
                  <a:srgbClr val="FFB86B"/>
                </a:solidFill>
              </a:rPr>
              <a:t>界面成熟度较高</a:t>
            </a:r>
          </a:p>
        </p:txBody>
      </p:sp>
      <p:sp>
        <p:nvSpPr>
          <p:cNvPr id="14" name="">
            <a:extLst xmlns:a="http://schemas.openxmlformats.org/drawingml/2006/main">
              <a:ext uri="{FF2B5EF4-FFF2-40B4-BE49-F238E27FC236}">
                <a16:creationId xmlns:a16="http://schemas.microsoft.com/office/drawing/2014/main" id="{34A6A8D5-F528-411C-9380-581148973D2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4080510"/>
            <a:ext cx="8591074" cy="1173480"/>
          </a:xfrm>
          <a:prstGeom xmlns:a="http://schemas.openxmlformats.org/drawingml/2006/main" prst="roundRect">
            <a:avLst>
              <a:gd name="adj" fmla="val 22727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5" name="">
            <a:extLst xmlns:a="http://schemas.openxmlformats.org/drawingml/2006/main">
              <a:ext uri="{FF2B5EF4-FFF2-40B4-BE49-F238E27FC236}">
                <a16:creationId xmlns:a16="http://schemas.microsoft.com/office/drawing/2014/main" id="{2C22F3A0-E4F5-4264-97BD-F61E0858B23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1066800" y="4343400"/>
            <a:ext cx="8058150" cy="647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最值得肯定的地方，不是单个页面做得多复杂，而是项目已经形成了从记账到消费复盘的产品闭环。</a:t>
            </a:r>
          </a:p>
        </p:txBody>
      </p:sp>
      <p:sp>
        <p:nvSpPr>
          <p:cNvPr id="16" name="">
            <a:extLst xmlns:a="http://schemas.openxmlformats.org/drawingml/2006/main">
              <a:ext uri="{FF2B5EF4-FFF2-40B4-BE49-F238E27FC236}">
                <a16:creationId xmlns:a16="http://schemas.microsoft.com/office/drawing/2014/main" id="{81B285B8-7CD9-4B7D-9EEA-3480C3DE8986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500" y="2000250"/>
            <a:ext cx="7772400" cy="3238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100" b="1">
                <a:solidFill>
                  <a:srgbClr val="F4F7FB"/>
                </a:solidFill>
              </a:defRPr>
            </a:pPr>
            <a:r>
              <a:rPr sz="2100" b="1">
                <a:solidFill>
                  <a:srgbClr val="F4F7FB"/>
                </a:solidFill>
              </a:rPr>
              <a:t>后续可演进方向</a:t>
            </a:r>
          </a:p>
        </p:txBody>
      </p:sp>
      <p:sp>
        <p:nvSpPr>
          <p:cNvPr id="17" name="">
            <a:extLst xmlns:a="http://schemas.openxmlformats.org/drawingml/2006/main">
              <a:ext uri="{FF2B5EF4-FFF2-40B4-BE49-F238E27FC236}">
                <a16:creationId xmlns:a16="http://schemas.microsoft.com/office/drawing/2014/main" id="{ECCBFD65-9FB3-4D4B-8104-822D98A7598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024" y="2430780"/>
            <a:ext cx="7772876" cy="2141220"/>
          </a:xfrm>
          <a:prstGeom xmlns:a="http://schemas.openxmlformats.org/drawingml/2006/main" prst="roundRect">
            <a:avLst>
              <a:gd name="adj" fmla="val 1156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18" name="">
            <a:extLst xmlns:a="http://schemas.openxmlformats.org/drawingml/2006/main">
              <a:ext uri="{FF2B5EF4-FFF2-40B4-BE49-F238E27FC236}">
                <a16:creationId xmlns:a16="http://schemas.microsoft.com/office/drawing/2014/main" id="{85970E12-8F6E-4635-A88C-2207BE8AD11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7051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5E7CE2"/>
          </a:solidFill>
        </p:spPr>
      </p:sp>
      <p:sp>
        <p:nvSpPr>
          <p:cNvPr id="19" name="">
            <a:extLst xmlns:a="http://schemas.openxmlformats.org/drawingml/2006/main">
              <a:ext uri="{FF2B5EF4-FFF2-40B4-BE49-F238E27FC236}">
                <a16:creationId xmlns:a16="http://schemas.microsoft.com/office/drawing/2014/main" id="{168DC489-A609-40B0-9230-6C8C5B4DAB6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28956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能力增强</a:t>
            </a:r>
          </a:p>
        </p:txBody>
      </p:sp>
      <p:sp>
        <p:nvSpPr>
          <p:cNvPr id="20" name="">
            <a:extLst xmlns:a="http://schemas.openxmlformats.org/drawingml/2006/main">
              <a:ext uri="{FF2B5EF4-FFF2-40B4-BE49-F238E27FC236}">
                <a16:creationId xmlns:a16="http://schemas.microsoft.com/office/drawing/2014/main" id="{2C8A3133-8092-4A1F-B65F-3ED8755808F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3718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云端备份与同步</a:t>
            </a:r>
          </a:p>
        </p:txBody>
      </p:sp>
      <p:sp>
        <p:nvSpPr>
          <p:cNvPr id="21" name="">
            <a:extLst xmlns:a="http://schemas.openxmlformats.org/drawingml/2006/main">
              <a:ext uri="{FF2B5EF4-FFF2-40B4-BE49-F238E27FC236}">
                <a16:creationId xmlns:a16="http://schemas.microsoft.com/office/drawing/2014/main" id="{4F846B00-6C22-4DBF-81B0-3E8286C9C8A9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37338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多账户管理</a:t>
            </a:r>
          </a:p>
        </p:txBody>
      </p:sp>
      <p:sp>
        <p:nvSpPr>
          <p:cNvPr id="22" name="">
            <a:extLst xmlns:a="http://schemas.openxmlformats.org/drawingml/2006/main">
              <a:ext uri="{FF2B5EF4-FFF2-40B4-BE49-F238E27FC236}">
                <a16:creationId xmlns:a16="http://schemas.microsoft.com/office/drawing/2014/main" id="{69140A14-8BD3-425F-9810-971C631F76E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11480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账单提醒</a:t>
            </a:r>
          </a:p>
        </p:txBody>
      </p:sp>
      <p:sp>
        <p:nvSpPr>
          <p:cNvPr id="23" name="">
            <a:extLst xmlns:a="http://schemas.openxmlformats.org/drawingml/2006/main">
              <a:ext uri="{FF2B5EF4-FFF2-40B4-BE49-F238E27FC236}">
                <a16:creationId xmlns:a16="http://schemas.microsoft.com/office/drawing/2014/main" id="{716B9CDC-6D58-4BA5-AFD3-15640E7411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024" y="4686300"/>
            <a:ext cx="7772876" cy="2141220"/>
          </a:xfrm>
          <a:prstGeom xmlns:a="http://schemas.openxmlformats.org/drawingml/2006/main" prst="roundRect">
            <a:avLst>
              <a:gd name="adj" fmla="val 1156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4" name="">
            <a:extLst xmlns:a="http://schemas.openxmlformats.org/drawingml/2006/main">
              <a:ext uri="{FF2B5EF4-FFF2-40B4-BE49-F238E27FC236}">
                <a16:creationId xmlns:a16="http://schemas.microsoft.com/office/drawing/2014/main" id="{316767BF-F1BA-44B6-95C1-DDDDA20E7C3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49530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7AC7B6"/>
          </a:solidFill>
        </p:spPr>
      </p:sp>
      <p:sp>
        <p:nvSpPr>
          <p:cNvPr id="25" name="">
            <a:extLst xmlns:a="http://schemas.openxmlformats.org/drawingml/2006/main">
              <a:ext uri="{FF2B5EF4-FFF2-40B4-BE49-F238E27FC236}">
                <a16:creationId xmlns:a16="http://schemas.microsoft.com/office/drawing/2014/main" id="{B55E180D-0ADA-4AFD-8F70-EA98A10F17B3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1435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个性化</a:t>
            </a:r>
          </a:p>
        </p:txBody>
      </p:sp>
      <p:sp>
        <p:nvSpPr>
          <p:cNvPr id="26" name="">
            <a:extLst xmlns:a="http://schemas.openxmlformats.org/drawingml/2006/main">
              <a:ext uri="{FF2B5EF4-FFF2-40B4-BE49-F238E27FC236}">
                <a16:creationId xmlns:a16="http://schemas.microsoft.com/office/drawing/2014/main" id="{9D2D7C72-6CA4-4E85-881C-19865AE68524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56197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自定义分类</a:t>
            </a:r>
          </a:p>
        </p:txBody>
      </p:sp>
      <p:sp>
        <p:nvSpPr>
          <p:cNvPr id="27" name="">
            <a:extLst xmlns:a="http://schemas.openxmlformats.org/drawingml/2006/main">
              <a:ext uri="{FF2B5EF4-FFF2-40B4-BE49-F238E27FC236}">
                <a16:creationId xmlns:a16="http://schemas.microsoft.com/office/drawing/2014/main" id="{C10CB433-3817-4816-92BC-9992A387B44B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60007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更丰富的主题与筛选</a:t>
            </a:r>
          </a:p>
        </p:txBody>
      </p:sp>
      <p:sp>
        <p:nvSpPr>
          <p:cNvPr id="28" name="">
            <a:extLst xmlns:a="http://schemas.openxmlformats.org/drawingml/2006/main">
              <a:ext uri="{FF2B5EF4-FFF2-40B4-BE49-F238E27FC236}">
                <a16:creationId xmlns:a16="http://schemas.microsoft.com/office/drawing/2014/main" id="{571DB89A-A77C-48B7-A969-84D1EC602860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715024" y="6941820"/>
            <a:ext cx="7772876" cy="2141220"/>
          </a:xfrm>
          <a:prstGeom xmlns:a="http://schemas.openxmlformats.org/drawingml/2006/main" prst="roundRect">
            <a:avLst>
              <a:gd name="adj" fmla="val 11566"/>
            </a:avLst>
          </a:prstGeom>
          <a:solidFill xmlns:a="http://schemas.openxmlformats.org/drawingml/2006/main">
            <a:srgbClr val="1B202A"/>
          </a:solidFill>
        </p:spPr>
      </p:sp>
      <p:sp>
        <p:nvSpPr>
          <p:cNvPr id="29" name="">
            <a:extLst xmlns:a="http://schemas.openxmlformats.org/drawingml/2006/main">
              <a:ext uri="{FF2B5EF4-FFF2-40B4-BE49-F238E27FC236}">
                <a16:creationId xmlns:a16="http://schemas.microsoft.com/office/drawing/2014/main" id="{9F5EBD0B-C15E-4303-981A-F588143990AD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200900"/>
            <a:ext cx="533400" cy="57150"/>
          </a:xfrm>
          <a:prstGeom xmlns:a="http://schemas.openxmlformats.org/drawingml/2006/main" prst="roundRect">
            <a:avLst>
              <a:gd name="adj" fmla="val 50000"/>
            </a:avLst>
          </a:prstGeom>
          <a:solidFill xmlns:a="http://schemas.openxmlformats.org/drawingml/2006/main">
            <a:srgbClr val="FFB86B"/>
          </a:solidFill>
        </p:spPr>
      </p:sp>
      <p:sp>
        <p:nvSpPr>
          <p:cNvPr id="30" name="">
            <a:extLst xmlns:a="http://schemas.openxmlformats.org/drawingml/2006/main">
              <a:ext uri="{FF2B5EF4-FFF2-40B4-BE49-F238E27FC236}">
                <a16:creationId xmlns:a16="http://schemas.microsoft.com/office/drawing/2014/main" id="{F5E75F30-FE39-41FA-A711-0B827734A9B5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391400"/>
            <a:ext cx="7239000" cy="3429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2250" b="1">
                <a:solidFill>
                  <a:srgbClr val="F4F7FB"/>
                </a:solidFill>
              </a:defRPr>
            </a:pPr>
            <a:r>
              <a:rPr sz="2250" b="1">
                <a:solidFill>
                  <a:srgbClr val="F4F7FB"/>
                </a:solidFill>
              </a:rPr>
              <a:t>工程升级</a:t>
            </a:r>
          </a:p>
        </p:txBody>
      </p:sp>
      <p:sp>
        <p:nvSpPr>
          <p:cNvPr id="31" name="">
            <a:extLst xmlns:a="http://schemas.openxmlformats.org/drawingml/2006/main">
              <a:ext uri="{FF2B5EF4-FFF2-40B4-BE49-F238E27FC236}">
                <a16:creationId xmlns:a16="http://schemas.microsoft.com/office/drawing/2014/main" id="{1A9F5641-FE03-4AA7-AC8B-3A75AA8BD35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78676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引入 Room / SQLite</a:t>
            </a:r>
          </a:p>
        </p:txBody>
      </p:sp>
      <p:sp>
        <p:nvSpPr>
          <p:cNvPr id="32" name="">
            <a:extLst xmlns:a="http://schemas.openxmlformats.org/drawingml/2006/main">
              <a:ext uri="{FF2B5EF4-FFF2-40B4-BE49-F238E27FC236}">
                <a16:creationId xmlns:a16="http://schemas.microsoft.com/office/drawing/2014/main" id="{A5715E6C-09E4-4FEE-8AD9-917DB9E617A7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982200" y="8248650"/>
            <a:ext cx="7239000" cy="24765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575">
                <a:solidFill>
                  <a:srgbClr val="97A4BA"/>
                </a:solidFill>
              </a:defRPr>
            </a:pPr>
            <a:r>
              <a:rPr sz="1575">
                <a:solidFill>
                  <a:srgbClr val="97A4BA"/>
                </a:solidFill>
              </a:rPr>
              <a:t>补充测试体系</a:t>
            </a:r>
          </a:p>
        </p:txBody>
      </p:sp>
      <p:sp>
        <p:nvSpPr>
          <p:cNvPr id="33" name="">
            <a:extLst xmlns:a="http://schemas.openxmlformats.org/drawingml/2006/main">
              <a:ext uri="{FF2B5EF4-FFF2-40B4-BE49-F238E27FC236}">
                <a16:creationId xmlns:a16="http://schemas.microsoft.com/office/drawing/2014/main" id="{742851C7-0BB2-49AB-B0E5-FE8CE6683DB1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800100" y="9448800"/>
            <a:ext cx="8343900" cy="1524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975">
                <a:solidFill>
                  <a:srgbClr val="6D778A"/>
                </a:solidFill>
              </a:defRPr>
            </a:pPr>
            <a:r>
              <a:rPr sz="975">
                <a:solidFill>
                  <a:srgbClr val="6D778A"/>
                </a:solidFill>
              </a:rPr>
              <a:t>来源：项目总结、毕业论文、PersonalLedger 代码仓库</a:t>
            </a:r>
          </a:p>
        </p:txBody>
      </p:sp>
      <p:sp>
        <p:nvSpPr>
          <p:cNvPr id="34" name="">
            <a:extLst xmlns:a="http://schemas.openxmlformats.org/drawingml/2006/main">
              <a:ext uri="{FF2B5EF4-FFF2-40B4-BE49-F238E27FC236}">
                <a16:creationId xmlns:a16="http://schemas.microsoft.com/office/drawing/2014/main" id="{E7565D2C-DA38-4ACD-9B7C-89C324D0E302}"/>
              </a:ext>
            </a:extLst>
          </p:cNvPr>
          <p:cNvSpPr>
            <a:spLocks xmlns:a="http://schemas.openxmlformats.org/drawingml/2006/main" noGrp="1"/>
          </p:cNvSpPr>
          <p:nvPr/>
        </p:nvSpPr>
        <p:spPr>
          <a:xfrm xmlns:a="http://schemas.openxmlformats.org/drawingml/2006/main">
            <a:off x="9144000" y="9334500"/>
            <a:ext cx="8343900" cy="266700"/>
          </a:xfrm>
          <a:prstGeom xmlns:a="http://schemas.openxmlformats.org/drawingml/2006/main" prst="rect">
            <a:avLst/>
          </a:prstGeom>
        </p:spPr>
        <p:txBody>
          <a:bodyPr xmlns:a="http://schemas.openxmlformats.org/drawingml/2006/main" lIns="0" tIns="0" rIns="0" bIns="0"/>
          <a:lstStyle xmlns:a="http://schemas.openxmlformats.org/drawingml/2006/main"/>
          <a:p xmlns:a="http://schemas.openxmlformats.org/drawingml/2006/main">
            <a:pPr>
              <a:defRPr sz="1650">
                <a:solidFill>
                  <a:srgbClr val="97A4BA"/>
                </a:solidFill>
              </a:defRPr>
            </a:pPr>
            <a:r>
              <a:rPr sz="1650">
                <a:solidFill>
                  <a:srgbClr val="97A4BA"/>
                </a:solidFill>
              </a:rPr>
              <a:t>谢谢</a:t>
            </a:r>
          </a:p>
        </p:txBody>
      </p:sp>
    </p:spTree>
    <p:extLst>
      <p:ext uri="{BB962C8B-B14F-4D97-AF65-F5344CB8AC3E}">
        <p14:creationId xmlns:p14="http://schemas.microsoft.com/office/powerpoint/2010/main" val="1009771682"/>
      </p:ext>
    </p:extLst>
  </p:cSld>
</p:sld>
</file>

<file path=ppt/theme/theme1.xml><?xml version="1.0" encoding="utf-8"?>
<a:theme xmlns:a="http://schemas.openxmlformats.org/drawingml/2006/main" name="ChatGPT">
  <a:themeElements>
    <a:clrScheme name="ChatGPT">
      <a:dk1>
        <a:srgbClr val="000000"/>
      </a:dk1>
      <a:lt1>
        <a:srgbClr val="FFFFFF"/>
      </a:lt1>
      <a:dk2>
        <a:srgbClr val="0E2841"/>
      </a:dk2>
      <a:lt2>
        <a:srgbClr val="E8E8E8"/>
      </a:lt2>
      <a:accent1>
        <a:srgbClr val="156082"/>
      </a:accent1>
      <a:accent2>
        <a:srgbClr val="E97132"/>
      </a:accent2>
      <a:accent3>
        <a:srgbClr val="196B24"/>
      </a:accent3>
      <a:accent4>
        <a:srgbClr val="0F9ED5"/>
      </a:accent4>
      <a:accent5>
        <a:srgbClr val="A02B93"/>
      </a:accent5>
      <a:accent6>
        <a:srgbClr val="4EA72E"/>
      </a:accent6>
      <a:hlink>
        <a:srgbClr val="467886"/>
      </a:hlink>
      <a:folHlink>
        <a:srgbClr val="96607D"/>
      </a:folHlink>
    </a:clrScheme>
    <a:fontScheme name="Office">
      <a:majorFont>
        <a:latin typeface="Calibri Light"/>
        <a:ea typeface="Calibri Light"/>
        <a:cs typeface="Calibri Light"/>
      </a:majorFont>
      <a:minorFont>
        <a:latin typeface="Calibri"/>
        <a:ea typeface="Calibri"/>
        <a:cs typeface="Calibri"/>
      </a:minorFont>
    </a:fontScheme>
    <a:fmtScheme name="ChatGPT">
      <a:fillStyleLst>
        <a:solidFill>
          <a:schemeClr val="phClr"/>
        </a:solidFill>
        <a:solidFill>
          <a:schemeClr val="dk1"/>
        </a:solidFill>
        <a:solidFill>
          <a:schemeClr val="accent1"/>
        </a:solidFill>
      </a:fillStyleLst>
      <a:lnStyleLst>
        <a:ln w="12700">
          <a:solidFill>
            <a:schemeClr val="phClr"/>
          </a:solidFill>
          <a:prstDash val="solid"/>
        </a:ln>
        <a:ln w="19050">
          <a:solidFill>
            <a:schemeClr val="phClr"/>
          </a:solidFill>
          <a:prstDash val="solid"/>
        </a:ln>
        <a:ln w="25400">
          <a:solidFill>
            <a:schemeClr val="phClr"/>
          </a:solidFill>
          <a:prstDash val="solid"/>
        </a:ln>
      </a:lnStyleLst>
      <a:effectStyleLst>
        <a:effectStyle>
          <a:effectLst/>
        </a:effectStyle>
        <a:effectStyle>
          <a:effectLst/>
        </a:effectStyle>
        <a:effectStyle>
          <a:effectLst>
            <a:outerShdw blurRad="57150" dist="190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19050" dist="9525" dir="5400000">
              <a:srgbClr val="000000">
                <a:alpha val="6000"/>
              </a:srgbClr>
            </a:outerShdw>
          </a:effectLst>
        </a:effectStyle>
        <a:effectStyle>
          <a:effectLst>
            <a:outerShdw blurRad="28575" dist="9525" dir="5400000">
              <a:srgbClr val="000000">
                <a:alpha val="8000"/>
              </a:srgbClr>
            </a:outerShdw>
          </a:effectLst>
        </a:effectStyle>
        <a:effectStyle>
          <a:effectLst>
            <a:outerShdw blurRad="57150" dist="19050" dir="5400000">
              <a:srgbClr val="000000">
                <a:alpha val="10000"/>
              </a:srgbClr>
            </a:outerShdw>
          </a:effectLst>
        </a:effectStyle>
        <a:effectStyle>
          <a:effectLst>
            <a:outerShdw blurRad="114300" dist="38100" dir="5400000">
              <a:srgbClr val="000000">
                <a:alpha val="12000"/>
              </a:srgbClr>
            </a:outerShdw>
          </a:effectLst>
        </a:effectStyle>
        <a:effectStyle>
          <a:effectLst>
            <a:outerShdw blurRad="171450" dist="57150" dir="5400000">
              <a:srgbClr val="000000">
                <a:alpha val="16000"/>
              </a:srgbClr>
            </a:outerShdw>
          </a:effectLst>
        </a:effectStyle>
        <a:effectStyle>
          <a:effectLst>
            <a:outerShdw blurRad="266700" dist="95250" dir="5400000">
              <a:srgbClr val="000000">
                <a:alpha val="24000"/>
              </a:srgbClr>
            </a:outerShdw>
          </a:effectLst>
        </a:effectStyle>
      </a:effectStyleLst>
      <a:bgFillStyleLst>
        <a:solidFill>
          <a:schemeClr val="phClr"/>
        </a:solidFill>
        <a:solidFill>
          <a:schemeClr val="phClr">
            <a:tint val="95000"/>
            <a:satMod val="170000"/>
          </a:schemeClr>
        </a:solidFill>
        <a:gradFill>
          <a:gsLst>
            <a:gs pos="0">
              <a:schemeClr val="phClr">
                <a:tint val="93000"/>
                <a:shade val="98000"/>
                <a:lumMod val="102000"/>
                <a:satMod val="150000"/>
              </a:schemeClr>
            </a:gs>
            <a:gs pos="50000">
              <a:schemeClr val="phClr">
                <a:tint val="98000"/>
                <a:shade val="90000"/>
                <a:lumMod val="103000"/>
                <a:satMod val="130000"/>
              </a:schemeClr>
            </a:gs>
            <a:gs pos="100000">
              <a:schemeClr val="phClr">
                <a:shade val="63000"/>
                <a:satMod val="120000"/>
              </a:schemeClr>
            </a:gs>
          </a:gsLst>
          <a:lin ang="5400000" scaled="0"/>
        </a:gradFill>
      </a:bgFillStyleLst>
    </a:fmtScheme>
  </a:themeElements>
</a:theme>
</file>

<file path=docProps/app.xml><?xml version="1.0" encoding="utf-8"?>
<ap:Properties xmlns:ap="http://schemas.openxmlformats.org/officeDocument/2006/extended-properties">
  <ap:Application>Walnut Exporter</ap:Application>
  <ap:PresentationFormat>Converted Presentation</ap:PresentationFormat>
  <ap:Slides>0</ap:Slides>
  <ap:Notes>0</ap:Notes>
  <ap:HiddenSlides>0</ap:HiddenSlides>
  <ap:SharedDoc>false</ap:SharedDoc>
  <ap:DocSecurity>0</ap:DocSecurity>
</ap:Properties>
</file>

<file path=docProps/core.xml><?xml version="1.0" encoding="utf-8"?>
<coreProperties xmlns:dc="http://purl.org/dc/elements/1.1/" xmlns:dcterms="http://purl.org/dc/terms/" xmlns:xsi="http://www.w3.org/2001/XMLSchema-instance" xmlns="http://schemas.openxmlformats.org/package/2006/metadata/core-properties">
  <dc:creator>Walnut Exporter</dc:creator>
  <lastModifiedBy>Walnut Exporter</lastModifiedBy>
  <dc:title>Presentation</dc:title>
  <dcterms:created xsi:type="dcterms:W3CDTF">2026-05-16T06:05:21.0830000Z</dcterms:created>
  <dcterms:modified xsi:type="dcterms:W3CDTF">2026-05-16T06:05:21.0830000Z</dcterms:modified>
</coreProperties>
</file>